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4" r:id="rId3"/>
    <p:sldId id="285" r:id="rId4"/>
    <p:sldId id="287" r:id="rId5"/>
    <p:sldId id="286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80" r:id="rId17"/>
    <p:sldId id="262" r:id="rId18"/>
    <p:sldId id="267" r:id="rId19"/>
    <p:sldId id="269" r:id="rId20"/>
    <p:sldId id="266" r:id="rId21"/>
    <p:sldId id="263" r:id="rId22"/>
    <p:sldId id="281" r:id="rId23"/>
    <p:sldId id="288" r:id="rId24"/>
    <p:sldId id="292" r:id="rId25"/>
    <p:sldId id="264" r:id="rId26"/>
    <p:sldId id="291" r:id="rId27"/>
    <p:sldId id="282" r:id="rId28"/>
    <p:sldId id="293" r:id="rId29"/>
    <p:sldId id="265" r:id="rId30"/>
    <p:sldId id="289" r:id="rId31"/>
    <p:sldId id="290" r:id="rId32"/>
    <p:sldId id="283" r:id="rId33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FFCC"/>
    <a:srgbClr val="003399"/>
    <a:srgbClr val="9900CC"/>
    <a:srgbClr val="9900FF"/>
    <a:srgbClr val="33CC33"/>
    <a:srgbClr val="996633"/>
    <a:srgbClr val="4D4D4D"/>
    <a:srgbClr val="7777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9" autoAdjust="0"/>
    <p:restoredTop sz="95100" autoAdjust="0"/>
  </p:normalViewPr>
  <p:slideViewPr>
    <p:cSldViewPr>
      <p:cViewPr varScale="1">
        <p:scale>
          <a:sx n="96" d="100"/>
          <a:sy n="96" d="100"/>
        </p:scale>
        <p:origin x="930" y="9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/>
          <p:cNvSpPr>
            <a:spLocks noChangeArrowheads="1"/>
          </p:cNvSpPr>
          <p:nvPr/>
        </p:nvSpPr>
        <p:spPr bwMode="auto">
          <a:xfrm>
            <a:off x="0" y="0"/>
            <a:ext cx="12192000" cy="1066800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rgbClr val="CC0000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pic>
        <p:nvPicPr>
          <p:cNvPr id="5" name="Picture 13" descr="iiit-b_log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3200" y="133350"/>
            <a:ext cx="16764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0" y="2644776"/>
            <a:ext cx="12192000" cy="14700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/>
          <a:lstStyle>
            <a:lvl1pPr algn="ctr">
              <a:defRPr b="1">
                <a:solidFill>
                  <a:srgbClr val="CC0000"/>
                </a:solidFill>
              </a:defRPr>
            </a:lvl1pPr>
          </a:lstStyle>
          <a:p>
            <a:pPr lvl="0"/>
            <a:r>
              <a:rPr lang="en-US" altLang="en-US" noProof="0" smtClean="0"/>
              <a:t>Click to edit Master title style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3352800" y="4495800"/>
            <a:ext cx="8534400" cy="1447800"/>
          </a:xfrm>
        </p:spPr>
        <p:txBody>
          <a:bodyPr/>
          <a:lstStyle>
            <a:lvl1pPr marL="0" indent="0" algn="r">
              <a:buFontTx/>
              <a:buNone/>
              <a:defRPr sz="2400" i="1"/>
            </a:lvl1pPr>
          </a:lstStyle>
          <a:p>
            <a:pPr lvl="0"/>
            <a:r>
              <a:rPr lang="en-US" altLang="en-US" noProof="0" smtClean="0"/>
              <a:t>Click to edit Master subtitle style</a:t>
            </a:r>
          </a:p>
        </p:txBody>
      </p:sp>
      <p:sp>
        <p:nvSpPr>
          <p:cNvPr id="6" name="Date Placeholder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Footer Placeholder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Slide Number Placeholder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920F895-9FA9-4483-AB8F-1EB06C6CA4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7474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4AD4D4-D414-44EA-90CE-4572A9822E8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778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36259A-2E10-414C-9CE3-625D23C3300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8590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219201"/>
            <a:ext cx="5384800" cy="4906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219201"/>
            <a:ext cx="5384800" cy="4906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6D22E2-026C-41D3-82BC-178CA667B9D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1022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A044BD-3188-4A6F-9654-C4BEA18AFD3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64134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157E2F-033C-4505-9BCB-366C8355839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418678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2C1B7C-9979-4323-8DCC-343CF954C5B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51838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562434-CEC1-4326-AF61-C9BD70C68BB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9104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469C5F-99B8-4029-971B-F808429C602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10175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6AF47A-EC63-48AA-B9DD-E14AD30E8D4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2874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6800" y="1"/>
            <a:ext cx="2895600" cy="61261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0" y="1"/>
            <a:ext cx="8483600" cy="61261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A9DB26-C377-414D-B0CF-30CFE51D065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08369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1"/>
            <a:ext cx="10773833" cy="8223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219201"/>
            <a:ext cx="5384800" cy="4906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6197600" y="1219201"/>
            <a:ext cx="5384800" cy="4906963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FC0A79-7B71-4D0E-A443-74AA658E366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02495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10774363" cy="822325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CC0000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219200"/>
            <a:ext cx="10972800" cy="4906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/>
            </a:lvl1pPr>
          </a:lstStyle>
          <a:p>
            <a:pPr>
              <a:defRPr/>
            </a:pPr>
            <a:fld id="{4BA1DB34-2027-4DA7-96E1-828F4BC03A4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grpSp>
        <p:nvGrpSpPr>
          <p:cNvPr id="1031" name="Group 17"/>
          <p:cNvGrpSpPr>
            <a:grpSpLocks/>
          </p:cNvGrpSpPr>
          <p:nvPr/>
        </p:nvGrpSpPr>
        <p:grpSpPr bwMode="auto">
          <a:xfrm>
            <a:off x="10769600" y="0"/>
            <a:ext cx="1422400" cy="822325"/>
            <a:chOff x="3552" y="1776"/>
            <a:chExt cx="960" cy="720"/>
          </a:xfrm>
        </p:grpSpPr>
        <p:sp>
          <p:nvSpPr>
            <p:cNvPr id="1032" name="Rectangle 16"/>
            <p:cNvSpPr>
              <a:spLocks noChangeArrowheads="1"/>
            </p:cNvSpPr>
            <p:nvPr userDrawn="1"/>
          </p:nvSpPr>
          <p:spPr bwMode="auto">
            <a:xfrm>
              <a:off x="3552" y="1776"/>
              <a:ext cx="960" cy="720"/>
            </a:xfrm>
            <a:prstGeom prst="rect">
              <a:avLst/>
            </a:prstGeom>
            <a:solidFill>
              <a:srgbClr val="0033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pic>
          <p:nvPicPr>
            <p:cNvPr id="1033" name="Picture 15" descr="iiit-b_logo"/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48" y="1872"/>
              <a:ext cx="792" cy="540"/>
            </a:xfrm>
            <a:prstGeom prst="rect">
              <a:avLst/>
            </a:prstGeom>
            <a:solidFill>
              <a:srgbClr val="0033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99CCFF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99CCFF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99CCFF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99CCFF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99CCFF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rgbClr val="99CCFF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rgbClr val="99CCFF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rgbClr val="99CCFF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rgbClr val="99CCFF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rgbClr val="990000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336600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644775"/>
            <a:ext cx="12192000" cy="1470025"/>
          </a:xfrm>
          <a:noFill/>
        </p:spPr>
        <p:txBody>
          <a:bodyPr/>
          <a:lstStyle/>
          <a:p>
            <a:pPr eaLnBrk="1" hangingPunct="1"/>
            <a:r>
              <a:rPr lang="en-US" altLang="en-US" smtClean="0"/>
              <a:t>Normalization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962400" y="4191000"/>
            <a:ext cx="6400800" cy="1752600"/>
          </a:xfrm>
        </p:spPr>
        <p:txBody>
          <a:bodyPr/>
          <a:lstStyle/>
          <a:p>
            <a:pPr eaLnBrk="1" hangingPunct="1"/>
            <a:r>
              <a:rPr lang="en-US" altLang="en-US" smtClean="0"/>
              <a:t>CS 605 Data Modeling</a:t>
            </a:r>
          </a:p>
        </p:txBody>
      </p:sp>
      <p:sp>
        <p:nvSpPr>
          <p:cNvPr id="3076" name="Text Box 5"/>
          <p:cNvSpPr txBox="1">
            <a:spLocks noChangeArrowheads="1"/>
          </p:cNvSpPr>
          <p:nvPr/>
        </p:nvSpPr>
        <p:spPr bwMode="auto">
          <a:xfrm>
            <a:off x="1812925" y="5903913"/>
            <a:ext cx="85502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990000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336600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Refer to the paper titled “A SlMPLE GUIDE  TO FIVE NORMAL  FORMS  IN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RELATIONAL DATABASE  THEORY” by William Kent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smtClean="0"/>
              <a:t>Design through normalization</a:t>
            </a:r>
            <a:endParaRPr lang="en-IN" altLang="en-US" sz="3200" smtClean="0"/>
          </a:p>
        </p:txBody>
      </p:sp>
      <p:sp>
        <p:nvSpPr>
          <p:cNvPr id="142339" name="AutoShape 3"/>
          <p:cNvSpPr>
            <a:spLocks noChangeArrowheads="1"/>
          </p:cNvSpPr>
          <p:nvPr/>
        </p:nvSpPr>
        <p:spPr bwMode="auto">
          <a:xfrm>
            <a:off x="3429000" y="1219200"/>
            <a:ext cx="3124200" cy="1066800"/>
          </a:xfrm>
          <a:prstGeom prst="roundRect">
            <a:avLst>
              <a:gd name="adj" fmla="val 16667"/>
            </a:avLst>
          </a:prstGeom>
          <a:solidFill>
            <a:srgbClr val="66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990000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336600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Data Requirements</a:t>
            </a:r>
            <a:endParaRPr lang="en-IN" altLang="en-US" sz="1800">
              <a:latin typeface="Arial" panose="020B0604020202020204" pitchFamily="34" charset="0"/>
            </a:endParaRPr>
          </a:p>
        </p:txBody>
      </p:sp>
      <p:sp>
        <p:nvSpPr>
          <p:cNvPr id="142340" name="AutoShape 4"/>
          <p:cNvSpPr>
            <a:spLocks noChangeArrowheads="1"/>
          </p:cNvSpPr>
          <p:nvPr/>
        </p:nvSpPr>
        <p:spPr bwMode="auto">
          <a:xfrm>
            <a:off x="3429000" y="3048000"/>
            <a:ext cx="3124200" cy="1066800"/>
          </a:xfrm>
          <a:prstGeom prst="roundRect">
            <a:avLst>
              <a:gd name="adj" fmla="val 16667"/>
            </a:avLst>
          </a:prstGeom>
          <a:solidFill>
            <a:srgbClr val="66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990000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336600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Logical Database Design</a:t>
            </a:r>
            <a:endParaRPr lang="en-IN" altLang="en-US" sz="1800">
              <a:latin typeface="Arial" panose="020B0604020202020204" pitchFamily="34" charset="0"/>
            </a:endParaRPr>
          </a:p>
        </p:txBody>
      </p:sp>
      <p:sp>
        <p:nvSpPr>
          <p:cNvPr id="142341" name="AutoShape 5"/>
          <p:cNvSpPr>
            <a:spLocks noChangeArrowheads="1"/>
          </p:cNvSpPr>
          <p:nvPr/>
        </p:nvSpPr>
        <p:spPr bwMode="auto">
          <a:xfrm>
            <a:off x="3429000" y="4876800"/>
            <a:ext cx="3124200" cy="1066800"/>
          </a:xfrm>
          <a:prstGeom prst="roundRect">
            <a:avLst>
              <a:gd name="adj" fmla="val 16667"/>
            </a:avLst>
          </a:prstGeom>
          <a:solidFill>
            <a:srgbClr val="66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990000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336600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Physical / Implementation Database Design</a:t>
            </a:r>
            <a:endParaRPr lang="en-IN" altLang="en-US" sz="1800">
              <a:latin typeface="Arial" panose="020B0604020202020204" pitchFamily="34" charset="0"/>
            </a:endParaRPr>
          </a:p>
        </p:txBody>
      </p:sp>
      <p:sp>
        <p:nvSpPr>
          <p:cNvPr id="142347" name="AutoShape 11"/>
          <p:cNvSpPr>
            <a:spLocks/>
          </p:cNvSpPr>
          <p:nvPr/>
        </p:nvSpPr>
        <p:spPr bwMode="auto">
          <a:xfrm>
            <a:off x="7315200" y="4953000"/>
            <a:ext cx="2667000" cy="838200"/>
          </a:xfrm>
          <a:prstGeom prst="borderCallout2">
            <a:avLst>
              <a:gd name="adj1" fmla="val 13634"/>
              <a:gd name="adj2" fmla="val -2856"/>
              <a:gd name="adj3" fmla="val 13634"/>
              <a:gd name="adj4" fmla="val -15477"/>
              <a:gd name="adj5" fmla="val 62120"/>
              <a:gd name="adj6" fmla="val -28569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990000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336600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Logical Schema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(vendor-specific SQL scripts)</a:t>
            </a:r>
            <a:endParaRPr lang="en-IN" altLang="en-US" sz="1600">
              <a:latin typeface="Arial" panose="020B0604020202020204" pitchFamily="34" charset="0"/>
            </a:endParaRPr>
          </a:p>
        </p:txBody>
      </p:sp>
      <p:sp>
        <p:nvSpPr>
          <p:cNvPr id="142348" name="AutoShape 12"/>
          <p:cNvSpPr>
            <a:spLocks/>
          </p:cNvSpPr>
          <p:nvPr/>
        </p:nvSpPr>
        <p:spPr bwMode="auto">
          <a:xfrm>
            <a:off x="7315200" y="1295400"/>
            <a:ext cx="2743200" cy="914400"/>
          </a:xfrm>
          <a:prstGeom prst="borderCallout2">
            <a:avLst>
              <a:gd name="adj1" fmla="val 12500"/>
              <a:gd name="adj2" fmla="val -2778"/>
              <a:gd name="adj3" fmla="val 12500"/>
              <a:gd name="adj4" fmla="val -15278"/>
              <a:gd name="adj5" fmla="val 58333"/>
              <a:gd name="adj6" fmla="val -28241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990000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336600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Universal schema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Functional dependencies</a:t>
            </a:r>
            <a:endParaRPr lang="en-IN" altLang="en-US" sz="1600">
              <a:latin typeface="Arial" panose="020B0604020202020204" pitchFamily="34" charset="0"/>
            </a:endParaRPr>
          </a:p>
        </p:txBody>
      </p:sp>
      <p:sp>
        <p:nvSpPr>
          <p:cNvPr id="142349" name="AutoShape 13"/>
          <p:cNvSpPr>
            <a:spLocks/>
          </p:cNvSpPr>
          <p:nvPr/>
        </p:nvSpPr>
        <p:spPr bwMode="auto">
          <a:xfrm>
            <a:off x="7315200" y="3200400"/>
            <a:ext cx="2667000" cy="838200"/>
          </a:xfrm>
          <a:prstGeom prst="borderCallout2">
            <a:avLst>
              <a:gd name="adj1" fmla="val 13634"/>
              <a:gd name="adj2" fmla="val -2856"/>
              <a:gd name="adj3" fmla="val 13634"/>
              <a:gd name="adj4" fmla="val -14764"/>
              <a:gd name="adj5" fmla="val 59093"/>
              <a:gd name="adj6" fmla="val -27144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990000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336600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Logical Schema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(vendor-neutral SQL scripts)</a:t>
            </a:r>
            <a:endParaRPr lang="en-IN" altLang="en-US" sz="1600">
              <a:latin typeface="Arial" panose="020B0604020202020204" pitchFamily="34" charset="0"/>
            </a:endParaRPr>
          </a:p>
        </p:txBody>
      </p:sp>
      <p:sp>
        <p:nvSpPr>
          <p:cNvPr id="142350" name="AutoShape 14"/>
          <p:cNvSpPr>
            <a:spLocks noChangeArrowheads="1"/>
          </p:cNvSpPr>
          <p:nvPr/>
        </p:nvSpPr>
        <p:spPr bwMode="auto">
          <a:xfrm>
            <a:off x="4724400" y="2286000"/>
            <a:ext cx="381000" cy="7620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990000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336600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42351" name="AutoShape 15"/>
          <p:cNvSpPr>
            <a:spLocks noChangeArrowheads="1"/>
          </p:cNvSpPr>
          <p:nvPr/>
        </p:nvSpPr>
        <p:spPr bwMode="auto">
          <a:xfrm>
            <a:off x="4724400" y="4114800"/>
            <a:ext cx="381000" cy="7620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990000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336600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42352" name="AutoShape 16"/>
          <p:cNvSpPr>
            <a:spLocks noChangeArrowheads="1"/>
          </p:cNvSpPr>
          <p:nvPr/>
        </p:nvSpPr>
        <p:spPr bwMode="auto">
          <a:xfrm>
            <a:off x="8362950" y="2209800"/>
            <a:ext cx="381000" cy="990600"/>
          </a:xfrm>
          <a:prstGeom prst="downArrow">
            <a:avLst>
              <a:gd name="adj1" fmla="val 50000"/>
              <a:gd name="adj2" fmla="val 65000"/>
            </a:avLst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990000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336600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42353" name="Text Box 17"/>
          <p:cNvSpPr txBox="1">
            <a:spLocks noChangeArrowheads="1"/>
          </p:cNvSpPr>
          <p:nvPr/>
        </p:nvSpPr>
        <p:spPr bwMode="auto">
          <a:xfrm>
            <a:off x="8667750" y="2362200"/>
            <a:ext cx="15430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990000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336600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normalization</a:t>
            </a:r>
            <a:endParaRPr lang="en-IN" altLang="en-US" sz="1800">
              <a:latin typeface="Arial" panose="020B0604020202020204" pitchFamily="34" charset="0"/>
            </a:endParaRPr>
          </a:p>
        </p:txBody>
      </p:sp>
      <p:sp>
        <p:nvSpPr>
          <p:cNvPr id="142354" name="AutoShape 18"/>
          <p:cNvSpPr>
            <a:spLocks noChangeArrowheads="1"/>
          </p:cNvSpPr>
          <p:nvPr/>
        </p:nvSpPr>
        <p:spPr bwMode="auto">
          <a:xfrm>
            <a:off x="8382000" y="4038600"/>
            <a:ext cx="381000" cy="914400"/>
          </a:xfrm>
          <a:prstGeom prst="downArrow">
            <a:avLst>
              <a:gd name="adj1" fmla="val 50000"/>
              <a:gd name="adj2" fmla="val 60000"/>
            </a:avLst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990000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336600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42355" name="Text Box 19"/>
          <p:cNvSpPr txBox="1">
            <a:spLocks noChangeArrowheads="1"/>
          </p:cNvSpPr>
          <p:nvPr/>
        </p:nvSpPr>
        <p:spPr bwMode="auto">
          <a:xfrm>
            <a:off x="8667750" y="4227513"/>
            <a:ext cx="1060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990000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336600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mapping</a:t>
            </a:r>
            <a:endParaRPr lang="en-IN" altLang="en-US" sz="18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2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42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42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42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7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423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423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423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423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423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423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423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423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42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42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42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7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423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423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423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423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423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423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423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423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42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39" grpId="0" animBg="1"/>
      <p:bldP spid="142340" grpId="0" animBg="1"/>
      <p:bldP spid="142341" grpId="0" animBg="1"/>
      <p:bldP spid="142347" grpId="0" animBg="1"/>
      <p:bldP spid="142348" grpId="0" animBg="1"/>
      <p:bldP spid="142349" grpId="0" animBg="1"/>
      <p:bldP spid="142350" grpId="0" animBg="1"/>
      <p:bldP spid="142351" grpId="0" animBg="1"/>
      <p:bldP spid="142352" grpId="0" animBg="1"/>
      <p:bldP spid="142353" grpId="0"/>
      <p:bldP spid="142354" grpId="0" animBg="1"/>
      <p:bldP spid="14235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Functional Dependency</a:t>
            </a: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609600" y="1265238"/>
            <a:ext cx="10972800" cy="4906962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 altLang="en-US" smtClean="0"/>
              <a:t>A functional dependency X </a:t>
            </a:r>
            <a:r>
              <a:rPr lang="en-US" altLang="en-US" smtClean="0">
                <a:sym typeface="Wingdings" panose="05000000000000000000" pitchFamily="2" charset="2"/>
              </a:rPr>
              <a:t> Y (read as “X functionally determines Y”) holds on a relation under the following condition:</a:t>
            </a:r>
          </a:p>
          <a:p>
            <a:pPr marL="0" indent="0">
              <a:buFontTx/>
              <a:buNone/>
            </a:pPr>
            <a:endParaRPr lang="en-US" altLang="en-US" smtClean="0">
              <a:sym typeface="Wingdings" panose="05000000000000000000" pitchFamily="2" charset="2"/>
            </a:endParaRPr>
          </a:p>
          <a:p>
            <a:pPr marL="0" indent="0">
              <a:buFontTx/>
              <a:buNone/>
            </a:pPr>
            <a:r>
              <a:rPr lang="en-US" altLang="en-US" b="1" smtClean="0">
                <a:sym typeface="Wingdings" panose="05000000000000000000" pitchFamily="2" charset="2"/>
              </a:rPr>
              <a:t>If there are two tuples t1 and t2 such that t1(X) = t2(X), then t1(Y) = t2(Y)</a:t>
            </a:r>
            <a:endParaRPr lang="en-US" altLang="en-US" b="1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Key Motivation for Normalization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Insertion Anomalies</a:t>
            </a:r>
          </a:p>
          <a:p>
            <a:r>
              <a:rPr lang="en-US" altLang="en-US" smtClean="0"/>
              <a:t>Modification Anomalies</a:t>
            </a:r>
          </a:p>
          <a:p>
            <a:r>
              <a:rPr lang="en-US" altLang="en-US" smtClean="0"/>
              <a:t>Deletion Anomalies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Example of FD</a:t>
            </a:r>
          </a:p>
        </p:txBody>
      </p:sp>
      <p:pic>
        <p:nvPicPr>
          <p:cNvPr id="7171" name="Picture 8" descr="scan000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54" t="55779" r="5486" b="16714"/>
          <a:stretch>
            <a:fillRect/>
          </a:stretch>
        </p:blipFill>
        <p:spPr bwMode="auto">
          <a:xfrm>
            <a:off x="1676400" y="1143000"/>
            <a:ext cx="80772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2" name="Rectangle 4"/>
          <p:cNvSpPr>
            <a:spLocks noChangeArrowheads="1"/>
          </p:cNvSpPr>
          <p:nvPr/>
        </p:nvSpPr>
        <p:spPr bwMode="auto">
          <a:xfrm>
            <a:off x="1897063" y="5105400"/>
            <a:ext cx="861060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rgbClr val="990000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336600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1"/>
                </a:solidFill>
                <a:latin typeface="Arial" panose="020B0604020202020204" pitchFamily="34" charset="0"/>
              </a:rPr>
              <a:t>{Student_Name, Course} </a:t>
            </a:r>
            <a:r>
              <a:rPr lang="en-US" altLang="en-US" b="1">
                <a:solidFill>
                  <a:schemeClr val="tx1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altLang="en-US" sz="2000">
                <a:solidFill>
                  <a:schemeClr val="tx1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 {Phone_No., Department, Grade}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1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{Student_Name} </a:t>
            </a:r>
            <a:r>
              <a:rPr lang="en-US" altLang="en-US" b="1">
                <a:solidFill>
                  <a:schemeClr val="tx1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altLang="en-US" sz="2000">
                <a:solidFill>
                  <a:schemeClr val="tx1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 {Phone_No., Department}</a:t>
            </a: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3124200" y="6138863"/>
            <a:ext cx="5246688" cy="369887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990000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336600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How do you define KEY using the concept of FD?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0774363" cy="822325"/>
          </a:xfrm>
        </p:spPr>
        <p:txBody>
          <a:bodyPr/>
          <a:lstStyle/>
          <a:p>
            <a:r>
              <a:rPr lang="en-US" altLang="en-US" sz="3600" smtClean="0"/>
              <a:t>Example 1: Unnormalized </a:t>
            </a:r>
            <a:r>
              <a:rPr lang="en-US" altLang="en-US" sz="3600" smtClean="0">
                <a:sym typeface="Wingdings" panose="05000000000000000000" pitchFamily="2" charset="2"/>
              </a:rPr>
              <a:t> 1NF</a:t>
            </a:r>
            <a:endParaRPr lang="en-US" altLang="en-US" sz="3600" smtClean="0"/>
          </a:p>
        </p:txBody>
      </p:sp>
      <p:sp>
        <p:nvSpPr>
          <p:cNvPr id="8195" name="Rectangle 4"/>
          <p:cNvSpPr>
            <a:spLocks noGrp="1" noChangeArrowheads="1" noTextEdit="1"/>
          </p:cNvSpPr>
          <p:nvPr>
            <p:ph type="clipArt" sz="half" idx="2"/>
          </p:nvPr>
        </p:nvSpPr>
        <p:spPr>
          <a:xfrm>
            <a:off x="6197600" y="1219200"/>
            <a:ext cx="5384800" cy="4906963"/>
          </a:xfrm>
        </p:spPr>
      </p:sp>
      <p:pic>
        <p:nvPicPr>
          <p:cNvPr id="8196" name="Picture 6" descr="scan000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20" t="7031" r="12871" b="53906"/>
          <a:stretch>
            <a:fillRect/>
          </a:stretch>
        </p:blipFill>
        <p:spPr bwMode="auto">
          <a:xfrm>
            <a:off x="5867400" y="1066800"/>
            <a:ext cx="4572000" cy="448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7" name="Picture 8" descr="scan000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5" t="9796" r="47874" b="55934"/>
          <a:stretch>
            <a:fillRect/>
          </a:stretch>
        </p:blipFill>
        <p:spPr bwMode="auto">
          <a:xfrm rot="10740000">
            <a:off x="1752600" y="1905000"/>
            <a:ext cx="3330575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8" name="AutoShape 9"/>
          <p:cNvSpPr>
            <a:spLocks noChangeArrowheads="1"/>
          </p:cNvSpPr>
          <p:nvPr/>
        </p:nvSpPr>
        <p:spPr bwMode="auto">
          <a:xfrm>
            <a:off x="5257800" y="3429000"/>
            <a:ext cx="457200" cy="304800"/>
          </a:xfrm>
          <a:prstGeom prst="rightArrow">
            <a:avLst>
              <a:gd name="adj1" fmla="val 50000"/>
              <a:gd name="adj2" fmla="val 37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990000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336600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0774363" cy="822325"/>
          </a:xfrm>
        </p:spPr>
        <p:txBody>
          <a:bodyPr/>
          <a:lstStyle/>
          <a:p>
            <a:r>
              <a:rPr lang="en-US" altLang="en-US" smtClean="0"/>
              <a:t>Example 1 (Normalized)</a:t>
            </a:r>
          </a:p>
        </p:txBody>
      </p:sp>
      <p:sp>
        <p:nvSpPr>
          <p:cNvPr id="9219" name="Rectangle 9"/>
          <p:cNvSpPr>
            <a:spLocks noGrp="1" noChangeArrowheads="1"/>
          </p:cNvSpPr>
          <p:nvPr>
            <p:ph type="body" sz="half" idx="1"/>
          </p:nvPr>
        </p:nvSpPr>
        <p:spPr>
          <a:xfrm>
            <a:off x="1828800" y="4648200"/>
            <a:ext cx="8305800" cy="1752600"/>
          </a:xfrm>
          <a:noFill/>
        </p:spPr>
        <p:txBody>
          <a:bodyPr/>
          <a:lstStyle/>
          <a:p>
            <a:r>
              <a:rPr lang="en-US" altLang="en-US" sz="2800" smtClean="0"/>
              <a:t>Insertion anomalies?</a:t>
            </a:r>
          </a:p>
          <a:p>
            <a:r>
              <a:rPr lang="en-US" altLang="en-US" sz="2800" smtClean="0"/>
              <a:t>Deletion anomalies?</a:t>
            </a:r>
          </a:p>
          <a:p>
            <a:r>
              <a:rPr lang="en-US" altLang="en-US" sz="2800" smtClean="0"/>
              <a:t>Modification anomalies?</a:t>
            </a:r>
          </a:p>
        </p:txBody>
      </p:sp>
      <p:pic>
        <p:nvPicPr>
          <p:cNvPr id="9220" name="Picture 11" descr="scan000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54" t="55779" r="5486" b="16714"/>
          <a:stretch>
            <a:fillRect/>
          </a:stretch>
        </p:blipFill>
        <p:spPr bwMode="auto">
          <a:xfrm>
            <a:off x="2743200" y="838200"/>
            <a:ext cx="6477000" cy="3760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Second Normal Form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mtClean="0"/>
              <a:t>A relation schema R is in </a:t>
            </a:r>
            <a:r>
              <a:rPr lang="en-US" altLang="en-US" b="1" smtClean="0"/>
              <a:t>second normal form (2NF)</a:t>
            </a:r>
            <a:r>
              <a:rPr lang="en-US" altLang="en-US" smtClean="0"/>
              <a:t> if every non-prime attribute A in R is fully functionally dependent on the primary key</a:t>
            </a:r>
          </a:p>
          <a:p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0774363" cy="822325"/>
          </a:xfrm>
        </p:spPr>
        <p:txBody>
          <a:bodyPr/>
          <a:lstStyle/>
          <a:p>
            <a:r>
              <a:rPr lang="en-US" altLang="en-US" smtClean="0"/>
              <a:t>Example 2: </a:t>
            </a:r>
          </a:p>
        </p:txBody>
      </p:sp>
      <p:sp>
        <p:nvSpPr>
          <p:cNvPr id="11267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1524000" y="3657600"/>
            <a:ext cx="9144000" cy="2590800"/>
          </a:xfrm>
          <a:noFill/>
        </p:spPr>
        <p:txBody>
          <a:bodyPr/>
          <a:lstStyle/>
          <a:p>
            <a:r>
              <a:rPr lang="en-US" altLang="en-US" sz="2400" b="1" smtClean="0"/>
              <a:t>Key</a:t>
            </a:r>
            <a:r>
              <a:rPr lang="en-US" altLang="en-US" sz="2400" smtClean="0"/>
              <a:t> is {</a:t>
            </a:r>
            <a:r>
              <a:rPr lang="en-US" altLang="en-US" sz="2400" u="sng" smtClean="0"/>
              <a:t>Student_Name, Course</a:t>
            </a:r>
            <a:r>
              <a:rPr lang="en-US" altLang="en-US" sz="2400" smtClean="0"/>
              <a:t>}</a:t>
            </a:r>
          </a:p>
          <a:p>
            <a:r>
              <a:rPr lang="en-US" altLang="en-US" sz="2400" smtClean="0"/>
              <a:t>FDs</a:t>
            </a:r>
          </a:p>
          <a:p>
            <a:pPr lvl="1"/>
            <a:r>
              <a:rPr lang="en-US" altLang="en-US" sz="2000" smtClean="0"/>
              <a:t>{Student_Name, Course} </a:t>
            </a:r>
            <a:r>
              <a:rPr lang="en-US" altLang="en-US" sz="2000" smtClean="0">
                <a:sym typeface="Wingdings" panose="05000000000000000000" pitchFamily="2" charset="2"/>
              </a:rPr>
              <a:t> {Phone_No., Department, Grade}</a:t>
            </a:r>
          </a:p>
          <a:p>
            <a:pPr lvl="1"/>
            <a:r>
              <a:rPr lang="en-US" altLang="en-US" sz="2000" smtClean="0">
                <a:sym typeface="Wingdings" panose="05000000000000000000" pitchFamily="2" charset="2"/>
              </a:rPr>
              <a:t>{Student_Name}  {Phone_No., Department}</a:t>
            </a:r>
          </a:p>
          <a:p>
            <a:r>
              <a:rPr lang="en-US" altLang="en-US" sz="2400" smtClean="0"/>
              <a:t>Non-prime attributes</a:t>
            </a:r>
          </a:p>
          <a:p>
            <a:pPr lvl="1"/>
            <a:r>
              <a:rPr lang="en-US" altLang="en-US" sz="2000" smtClean="0">
                <a:sym typeface="Wingdings" panose="05000000000000000000" pitchFamily="2" charset="2"/>
              </a:rPr>
              <a:t>Phone_No., Department, Grade</a:t>
            </a:r>
          </a:p>
        </p:txBody>
      </p:sp>
      <p:pic>
        <p:nvPicPr>
          <p:cNvPr id="11268" name="Picture 8" descr="scan000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54" t="55779" r="5486" b="16714"/>
          <a:stretch>
            <a:fillRect/>
          </a:stretch>
        </p:blipFill>
        <p:spPr bwMode="auto">
          <a:xfrm>
            <a:off x="2286000" y="990600"/>
            <a:ext cx="4572000" cy="265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9" name="Text Box 10"/>
          <p:cNvSpPr txBox="1">
            <a:spLocks noChangeArrowheads="1"/>
          </p:cNvSpPr>
          <p:nvPr/>
        </p:nvSpPr>
        <p:spPr bwMode="auto">
          <a:xfrm>
            <a:off x="7467600" y="2286000"/>
            <a:ext cx="2778125" cy="579438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990000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336600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latin typeface="Arial" panose="020B0604020202020204" pitchFamily="34" charset="0"/>
              </a:rPr>
              <a:t>Is this in 2NF?</a:t>
            </a:r>
          </a:p>
        </p:txBody>
      </p:sp>
      <p:sp>
        <p:nvSpPr>
          <p:cNvPr id="11270" name="Text Box 11"/>
          <p:cNvSpPr txBox="1">
            <a:spLocks noChangeArrowheads="1"/>
          </p:cNvSpPr>
          <p:nvPr/>
        </p:nvSpPr>
        <p:spPr bwMode="auto">
          <a:xfrm>
            <a:off x="7467600" y="1371600"/>
            <a:ext cx="2778125" cy="579438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990000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336600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latin typeface="Arial" panose="020B0604020202020204" pitchFamily="34" charset="0"/>
              </a:rPr>
              <a:t>Is this in 1NF?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0774363" cy="822325"/>
          </a:xfrm>
        </p:spPr>
        <p:txBody>
          <a:bodyPr/>
          <a:lstStyle/>
          <a:p>
            <a:r>
              <a:rPr lang="en-US" altLang="en-US" smtClean="0"/>
              <a:t>Example 2: 1NF </a:t>
            </a:r>
            <a:r>
              <a:rPr lang="en-US" altLang="en-US" smtClean="0">
                <a:sym typeface="Wingdings" panose="05000000000000000000" pitchFamily="2" charset="2"/>
              </a:rPr>
              <a:t> 2NF</a:t>
            </a:r>
            <a:endParaRPr lang="en-US" altLang="en-US" smtClean="0"/>
          </a:p>
        </p:txBody>
      </p:sp>
      <p:pic>
        <p:nvPicPr>
          <p:cNvPr id="12291" name="Picture 9" descr="scan000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88" b="63281"/>
          <a:stretch>
            <a:fillRect/>
          </a:stretch>
        </p:blipFill>
        <p:spPr bwMode="auto">
          <a:xfrm>
            <a:off x="1752600" y="1066800"/>
            <a:ext cx="8382000" cy="392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2" name="Rectangle 10"/>
          <p:cNvSpPr>
            <a:spLocks noGrp="1" noChangeArrowheads="1"/>
          </p:cNvSpPr>
          <p:nvPr>
            <p:ph type="body" sz="half" idx="1"/>
          </p:nvPr>
        </p:nvSpPr>
        <p:spPr>
          <a:xfrm>
            <a:off x="1752600" y="5029200"/>
            <a:ext cx="4419600" cy="1752600"/>
          </a:xfrm>
          <a:solidFill>
            <a:srgbClr val="FFFF99"/>
          </a:solidFill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000" b="1" smtClean="0"/>
              <a:t>Key</a:t>
            </a:r>
            <a:r>
              <a:rPr lang="en-US" altLang="en-US" sz="2000" smtClean="0"/>
              <a:t> is {</a:t>
            </a:r>
            <a:r>
              <a:rPr lang="en-US" altLang="en-US" sz="2000" u="sng" smtClean="0"/>
              <a:t>Student_Name</a:t>
            </a:r>
            <a:r>
              <a:rPr lang="en-US" altLang="en-US" sz="2000" smtClean="0"/>
              <a:t>}</a:t>
            </a:r>
          </a:p>
          <a:p>
            <a:pPr>
              <a:lnSpc>
                <a:spcPct val="80000"/>
              </a:lnSpc>
            </a:pPr>
            <a:r>
              <a:rPr lang="en-US" altLang="en-US" sz="2000" smtClean="0"/>
              <a:t>FDs</a:t>
            </a:r>
          </a:p>
          <a:p>
            <a:pPr lvl="1">
              <a:lnSpc>
                <a:spcPct val="80000"/>
              </a:lnSpc>
            </a:pPr>
            <a:r>
              <a:rPr lang="en-US" altLang="en-US" sz="1800" smtClean="0">
                <a:sym typeface="Wingdings" panose="05000000000000000000" pitchFamily="2" charset="2"/>
              </a:rPr>
              <a:t>{Student_Name}  {Phone_No., Department}</a:t>
            </a:r>
          </a:p>
          <a:p>
            <a:pPr>
              <a:lnSpc>
                <a:spcPct val="80000"/>
              </a:lnSpc>
            </a:pPr>
            <a:r>
              <a:rPr lang="en-US" altLang="en-US" sz="2000" smtClean="0"/>
              <a:t>Non-prime attributes</a:t>
            </a:r>
          </a:p>
          <a:p>
            <a:pPr lvl="1">
              <a:lnSpc>
                <a:spcPct val="80000"/>
              </a:lnSpc>
            </a:pPr>
            <a:r>
              <a:rPr lang="en-US" altLang="en-US" sz="1800" smtClean="0">
                <a:sym typeface="Wingdings" panose="05000000000000000000" pitchFamily="2" charset="2"/>
              </a:rPr>
              <a:t>Phone_No., Department</a:t>
            </a:r>
          </a:p>
        </p:txBody>
      </p:sp>
      <p:sp>
        <p:nvSpPr>
          <p:cNvPr id="12293" name="Rectangle 11"/>
          <p:cNvSpPr>
            <a:spLocks noChangeArrowheads="1"/>
          </p:cNvSpPr>
          <p:nvPr/>
        </p:nvSpPr>
        <p:spPr bwMode="auto">
          <a:xfrm>
            <a:off x="6096000" y="4953000"/>
            <a:ext cx="4419600" cy="1905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990000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336600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en-US" sz="1800" b="1"/>
              <a:t>Key</a:t>
            </a:r>
            <a:r>
              <a:rPr lang="en-US" altLang="en-US" sz="1800"/>
              <a:t> is {</a:t>
            </a:r>
            <a:r>
              <a:rPr lang="en-US" altLang="en-US" sz="1800" u="sng"/>
              <a:t>Student_Name, Course</a:t>
            </a:r>
            <a:r>
              <a:rPr lang="en-US" altLang="en-US" sz="1800"/>
              <a:t>}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800" b="1"/>
              <a:t>FDs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600">
                <a:sym typeface="Wingdings" panose="05000000000000000000" pitchFamily="2" charset="2"/>
              </a:rPr>
              <a:t>{Student_Name, Course}  {Grade}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800" b="1"/>
              <a:t>Non-prime attributes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600">
                <a:sym typeface="Wingdings" panose="05000000000000000000" pitchFamily="2" charset="2"/>
              </a:rPr>
              <a:t>Grade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0774363" cy="822325"/>
          </a:xfrm>
        </p:spPr>
        <p:txBody>
          <a:bodyPr/>
          <a:lstStyle/>
          <a:p>
            <a:r>
              <a:rPr lang="en-US" altLang="en-US" smtClean="0"/>
              <a:t>Example 3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828800" y="4648200"/>
            <a:ext cx="8305800" cy="1752600"/>
          </a:xfrm>
          <a:noFill/>
        </p:spPr>
        <p:txBody>
          <a:bodyPr/>
          <a:lstStyle/>
          <a:p>
            <a:r>
              <a:rPr lang="en-US" altLang="en-US" sz="2800" smtClean="0"/>
              <a:t>Insertion anomalies?</a:t>
            </a:r>
          </a:p>
          <a:p>
            <a:r>
              <a:rPr lang="en-US" altLang="en-US" sz="2800" smtClean="0"/>
              <a:t>Deletion anomalies?</a:t>
            </a:r>
          </a:p>
          <a:p>
            <a:r>
              <a:rPr lang="en-US" altLang="en-US" sz="2800" smtClean="0"/>
              <a:t>Modification anomalies?</a:t>
            </a:r>
          </a:p>
        </p:txBody>
      </p:sp>
      <p:pic>
        <p:nvPicPr>
          <p:cNvPr id="13316" name="Picture 5" descr="scan000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43" t="72656" r="7428"/>
          <a:stretch>
            <a:fillRect/>
          </a:stretch>
        </p:blipFill>
        <p:spPr bwMode="auto">
          <a:xfrm>
            <a:off x="457200" y="985838"/>
            <a:ext cx="5943600" cy="3525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7010400" y="1676400"/>
            <a:ext cx="4648200" cy="2432050"/>
          </a:xfrm>
          <a:prstGeom prst="rect">
            <a:avLst/>
          </a:prstGeom>
          <a:solidFill>
            <a:schemeClr val="accent5"/>
          </a:solidFill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en-US" sz="2400" b="1" dirty="0"/>
              <a:t>Key</a:t>
            </a:r>
            <a:r>
              <a:rPr lang="en-US" altLang="en-US" sz="2400" dirty="0"/>
              <a:t> is {</a:t>
            </a:r>
            <a:r>
              <a:rPr lang="en-US" altLang="en-US" sz="2400" u="sng" dirty="0" err="1"/>
              <a:t>Student_Name</a:t>
            </a:r>
            <a:r>
              <a:rPr lang="en-US" altLang="en-US" sz="2400" dirty="0"/>
              <a:t>}</a:t>
            </a:r>
          </a:p>
          <a:p>
            <a:pPr eaLnBrk="1" hangingPunct="1">
              <a:defRPr/>
            </a:pPr>
            <a:endParaRPr lang="en-US" altLang="en-US" sz="2400" dirty="0"/>
          </a:p>
          <a:p>
            <a:pPr eaLnBrk="1" hangingPunct="1">
              <a:defRPr/>
            </a:pPr>
            <a:r>
              <a:rPr lang="en-US" altLang="en-US" sz="2400" dirty="0"/>
              <a:t>FDs</a:t>
            </a:r>
          </a:p>
          <a:p>
            <a:pPr lvl="1" eaLnBrk="1" hangingPunct="1">
              <a:defRPr/>
            </a:pPr>
            <a:r>
              <a:rPr lang="en-US" altLang="en-US" sz="2000" dirty="0"/>
              <a:t>{</a:t>
            </a:r>
            <a:r>
              <a:rPr lang="en-US" altLang="en-US" sz="2000" dirty="0" err="1"/>
              <a:t>Student_Name</a:t>
            </a:r>
            <a:r>
              <a:rPr lang="en-US" altLang="en-US" sz="2000" dirty="0"/>
              <a:t>} </a:t>
            </a:r>
            <a:r>
              <a:rPr lang="en-US" altLang="en-US" sz="2000" dirty="0">
                <a:sym typeface="Wingdings" panose="05000000000000000000" pitchFamily="2" charset="2"/>
              </a:rPr>
              <a:t> {Major}</a:t>
            </a:r>
          </a:p>
          <a:p>
            <a:pPr lvl="1" eaLnBrk="1" hangingPunct="1">
              <a:defRPr/>
            </a:pPr>
            <a:r>
              <a:rPr lang="en-US" altLang="en-US" sz="2000" dirty="0">
                <a:sym typeface="Wingdings" panose="05000000000000000000" pitchFamily="2" charset="2"/>
              </a:rPr>
              <a:t>{</a:t>
            </a:r>
            <a:r>
              <a:rPr lang="en-US" altLang="en-US" sz="2000" dirty="0" err="1">
                <a:sym typeface="Wingdings" panose="05000000000000000000" pitchFamily="2" charset="2"/>
              </a:rPr>
              <a:t>Student_Name</a:t>
            </a:r>
            <a:r>
              <a:rPr lang="en-US" altLang="en-US" sz="2000" dirty="0">
                <a:sym typeface="Wingdings" panose="05000000000000000000" pitchFamily="2" charset="2"/>
              </a:rPr>
              <a:t>}  {Department}</a:t>
            </a:r>
          </a:p>
          <a:p>
            <a:pPr lvl="1" eaLnBrk="1" hangingPunct="1">
              <a:defRPr/>
            </a:pPr>
            <a:r>
              <a:rPr lang="en-US" altLang="en-US" sz="2000" dirty="0">
                <a:sym typeface="Wingdings" panose="05000000000000000000" pitchFamily="2" charset="2"/>
              </a:rPr>
              <a:t>{Major}  {Department}</a:t>
            </a:r>
          </a:p>
          <a:p>
            <a:pPr lvl="1" eaLnBrk="1" hangingPunct="1">
              <a:defRPr/>
            </a:pPr>
            <a:endParaRPr lang="en-US" altLang="en-US" sz="2000" dirty="0">
              <a:sym typeface="Wingdings" panose="05000000000000000000" pitchFamily="2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Third Normal Form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mtClean="0"/>
              <a:t>A relation schema R is in </a:t>
            </a:r>
            <a:r>
              <a:rPr lang="en-US" altLang="en-US" b="1" smtClean="0"/>
              <a:t>third normal form (3NF)</a:t>
            </a:r>
            <a:r>
              <a:rPr lang="en-US" altLang="en-US" smtClean="0"/>
              <a:t> if it is in 2NF </a:t>
            </a:r>
            <a:r>
              <a:rPr lang="en-US" altLang="en-US" i="1" smtClean="0"/>
              <a:t>and</a:t>
            </a:r>
            <a:r>
              <a:rPr lang="en-US" altLang="en-US" smtClean="0"/>
              <a:t> no non-prime attribute A in R is transitively dependent on the primary key</a:t>
            </a:r>
          </a:p>
          <a:p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0774363" cy="822325"/>
          </a:xfrm>
        </p:spPr>
        <p:txBody>
          <a:bodyPr/>
          <a:lstStyle/>
          <a:p>
            <a:r>
              <a:rPr lang="en-US" altLang="en-US" smtClean="0"/>
              <a:t>Example 3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524000" y="3657600"/>
            <a:ext cx="9144000" cy="2971800"/>
          </a:xfrm>
          <a:noFill/>
        </p:spPr>
        <p:txBody>
          <a:bodyPr/>
          <a:lstStyle/>
          <a:p>
            <a:r>
              <a:rPr lang="en-US" altLang="en-US" sz="2400" b="1" smtClean="0"/>
              <a:t>Key</a:t>
            </a:r>
            <a:r>
              <a:rPr lang="en-US" altLang="en-US" sz="2400" smtClean="0"/>
              <a:t> is {</a:t>
            </a:r>
            <a:r>
              <a:rPr lang="en-US" altLang="en-US" sz="2400" u="sng" smtClean="0"/>
              <a:t>Student_Name</a:t>
            </a:r>
            <a:r>
              <a:rPr lang="en-US" altLang="en-US" sz="2400" smtClean="0"/>
              <a:t>}</a:t>
            </a:r>
          </a:p>
          <a:p>
            <a:r>
              <a:rPr lang="en-US" altLang="en-US" sz="2400" smtClean="0"/>
              <a:t>FDs</a:t>
            </a:r>
          </a:p>
          <a:p>
            <a:pPr lvl="1"/>
            <a:r>
              <a:rPr lang="en-US" altLang="en-US" sz="2000" smtClean="0"/>
              <a:t>{Student_Name} </a:t>
            </a:r>
            <a:r>
              <a:rPr lang="en-US" altLang="en-US" sz="2000" smtClean="0">
                <a:sym typeface="Wingdings" panose="05000000000000000000" pitchFamily="2" charset="2"/>
              </a:rPr>
              <a:t> {Major}</a:t>
            </a:r>
          </a:p>
          <a:p>
            <a:pPr lvl="1"/>
            <a:r>
              <a:rPr lang="en-US" altLang="en-US" sz="2000" smtClean="0">
                <a:sym typeface="Wingdings" panose="05000000000000000000" pitchFamily="2" charset="2"/>
              </a:rPr>
              <a:t>{Student_Name}  {Department}</a:t>
            </a:r>
          </a:p>
          <a:p>
            <a:pPr lvl="1"/>
            <a:r>
              <a:rPr lang="en-US" altLang="en-US" sz="2000" smtClean="0">
                <a:sym typeface="Wingdings" panose="05000000000000000000" pitchFamily="2" charset="2"/>
              </a:rPr>
              <a:t>{Major}  {Department}</a:t>
            </a:r>
          </a:p>
          <a:p>
            <a:r>
              <a:rPr lang="en-US" altLang="en-US" sz="2400" smtClean="0"/>
              <a:t>Non-prime attributes</a:t>
            </a:r>
          </a:p>
          <a:p>
            <a:pPr lvl="1"/>
            <a:r>
              <a:rPr lang="en-US" altLang="en-US" sz="2000" smtClean="0">
                <a:sym typeface="Wingdings" panose="05000000000000000000" pitchFamily="2" charset="2"/>
              </a:rPr>
              <a:t>Major, Department</a:t>
            </a:r>
          </a:p>
        </p:txBody>
      </p:sp>
      <p:pic>
        <p:nvPicPr>
          <p:cNvPr id="15364" name="Picture 5" descr="scan000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43" t="72656" r="7428"/>
          <a:stretch>
            <a:fillRect/>
          </a:stretch>
        </p:blipFill>
        <p:spPr bwMode="auto">
          <a:xfrm>
            <a:off x="2057400" y="914400"/>
            <a:ext cx="4343400" cy="2576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5" name="Text Box 6"/>
          <p:cNvSpPr txBox="1">
            <a:spLocks noChangeArrowheads="1"/>
          </p:cNvSpPr>
          <p:nvPr/>
        </p:nvSpPr>
        <p:spPr bwMode="auto">
          <a:xfrm>
            <a:off x="7467600" y="3124200"/>
            <a:ext cx="2778125" cy="57943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990000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336600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latin typeface="Arial" panose="020B0604020202020204" pitchFamily="34" charset="0"/>
              </a:rPr>
              <a:t>Is this in 3NF?</a:t>
            </a:r>
          </a:p>
        </p:txBody>
      </p:sp>
      <p:sp>
        <p:nvSpPr>
          <p:cNvPr id="15366" name="Text Box 7"/>
          <p:cNvSpPr txBox="1">
            <a:spLocks noChangeArrowheads="1"/>
          </p:cNvSpPr>
          <p:nvPr/>
        </p:nvSpPr>
        <p:spPr bwMode="auto">
          <a:xfrm>
            <a:off x="7467600" y="2286000"/>
            <a:ext cx="2778125" cy="579438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990000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336600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latin typeface="Arial" panose="020B0604020202020204" pitchFamily="34" charset="0"/>
              </a:rPr>
              <a:t>Is this in 2NF?</a:t>
            </a:r>
          </a:p>
        </p:txBody>
      </p:sp>
      <p:sp>
        <p:nvSpPr>
          <p:cNvPr id="15367" name="Text Box 8"/>
          <p:cNvSpPr txBox="1">
            <a:spLocks noChangeArrowheads="1"/>
          </p:cNvSpPr>
          <p:nvPr/>
        </p:nvSpPr>
        <p:spPr bwMode="auto">
          <a:xfrm>
            <a:off x="7467600" y="1371600"/>
            <a:ext cx="2778125" cy="579438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990000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336600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latin typeface="Arial" panose="020B0604020202020204" pitchFamily="34" charset="0"/>
              </a:rPr>
              <a:t>Is this in 1NF?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0774363" cy="822325"/>
          </a:xfrm>
        </p:spPr>
        <p:txBody>
          <a:bodyPr/>
          <a:lstStyle/>
          <a:p>
            <a:r>
              <a:rPr lang="en-US" altLang="en-US" smtClean="0"/>
              <a:t>Example 3: 2NF </a:t>
            </a:r>
            <a:r>
              <a:rPr lang="en-US" altLang="en-US" smtClean="0">
                <a:sym typeface="Wingdings" panose="05000000000000000000" pitchFamily="2" charset="2"/>
              </a:rPr>
              <a:t> 3NF</a:t>
            </a:r>
            <a:endParaRPr lang="en-US" altLang="en-US" smtClean="0"/>
          </a:p>
        </p:txBody>
      </p:sp>
      <p:sp>
        <p:nvSpPr>
          <p:cNvPr id="16387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1752600" y="5029200"/>
            <a:ext cx="4419600" cy="1752600"/>
          </a:xfrm>
          <a:solidFill>
            <a:srgbClr val="FFFF99"/>
          </a:solidFill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b="1" smtClean="0"/>
              <a:t>Key</a:t>
            </a:r>
            <a:r>
              <a:rPr lang="en-US" altLang="en-US" sz="2000" smtClean="0"/>
              <a:t> is {</a:t>
            </a:r>
            <a:r>
              <a:rPr lang="en-US" altLang="en-US" sz="2000" u="sng" smtClean="0"/>
              <a:t>Student_Name</a:t>
            </a:r>
            <a:r>
              <a:rPr lang="en-US" altLang="en-US" sz="2000" smtClean="0"/>
              <a:t>}</a:t>
            </a:r>
          </a:p>
          <a:p>
            <a:pPr>
              <a:lnSpc>
                <a:spcPct val="90000"/>
              </a:lnSpc>
            </a:pPr>
            <a:r>
              <a:rPr lang="en-US" altLang="en-US" sz="2000" smtClean="0"/>
              <a:t>FDs</a:t>
            </a:r>
          </a:p>
          <a:p>
            <a:pPr lvl="1">
              <a:lnSpc>
                <a:spcPct val="90000"/>
              </a:lnSpc>
            </a:pPr>
            <a:r>
              <a:rPr lang="en-US" altLang="en-US" sz="1800" smtClean="0">
                <a:sym typeface="Wingdings" panose="05000000000000000000" pitchFamily="2" charset="2"/>
              </a:rPr>
              <a:t>{Student_Name}  {Major}</a:t>
            </a:r>
          </a:p>
          <a:p>
            <a:pPr>
              <a:lnSpc>
                <a:spcPct val="90000"/>
              </a:lnSpc>
            </a:pPr>
            <a:r>
              <a:rPr lang="en-US" altLang="en-US" sz="2000" smtClean="0"/>
              <a:t>Non-prime attributes</a:t>
            </a:r>
          </a:p>
          <a:p>
            <a:pPr lvl="1">
              <a:lnSpc>
                <a:spcPct val="90000"/>
              </a:lnSpc>
            </a:pPr>
            <a:r>
              <a:rPr lang="en-US" altLang="en-US" sz="1800" smtClean="0">
                <a:sym typeface="Wingdings" panose="05000000000000000000" pitchFamily="2" charset="2"/>
              </a:rPr>
              <a:t>Major</a:t>
            </a:r>
          </a:p>
        </p:txBody>
      </p:sp>
      <p:sp>
        <p:nvSpPr>
          <p:cNvPr id="16388" name="Rectangle 5"/>
          <p:cNvSpPr>
            <a:spLocks noChangeArrowheads="1"/>
          </p:cNvSpPr>
          <p:nvPr/>
        </p:nvSpPr>
        <p:spPr bwMode="auto">
          <a:xfrm>
            <a:off x="6096000" y="5029200"/>
            <a:ext cx="4419600" cy="17526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990000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336600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en-US" sz="2000" b="1"/>
              <a:t>Key</a:t>
            </a:r>
            <a:r>
              <a:rPr lang="en-US" altLang="en-US" sz="2000"/>
              <a:t> is {</a:t>
            </a:r>
            <a:r>
              <a:rPr lang="en-US" altLang="en-US" sz="2000" u="sng"/>
              <a:t>Major</a:t>
            </a:r>
            <a:r>
              <a:rPr lang="en-US" altLang="en-US" sz="2000"/>
              <a:t>}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/>
              <a:t>FDs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800">
                <a:sym typeface="Wingdings" panose="05000000000000000000" pitchFamily="2" charset="2"/>
              </a:rPr>
              <a:t>{Major}  {Department}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/>
              <a:t>Non-prime attributes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800">
                <a:sym typeface="Wingdings" panose="05000000000000000000" pitchFamily="2" charset="2"/>
              </a:rPr>
              <a:t>Department</a:t>
            </a:r>
          </a:p>
        </p:txBody>
      </p:sp>
      <p:pic>
        <p:nvPicPr>
          <p:cNvPr id="16389" name="Picture 6" descr="scan000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02" t="11719" r="18570" b="64844"/>
          <a:stretch>
            <a:fillRect/>
          </a:stretch>
        </p:blipFill>
        <p:spPr bwMode="auto">
          <a:xfrm>
            <a:off x="1905000" y="914400"/>
            <a:ext cx="8001000" cy="3478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Example 4</a:t>
            </a:r>
          </a:p>
        </p:txBody>
      </p:sp>
      <p:sp>
        <p:nvSpPr>
          <p:cNvPr id="17411" name="Text Box 4"/>
          <p:cNvSpPr txBox="1">
            <a:spLocks noChangeArrowheads="1"/>
          </p:cNvSpPr>
          <p:nvPr/>
        </p:nvSpPr>
        <p:spPr bwMode="auto">
          <a:xfrm>
            <a:off x="6934200" y="1524000"/>
            <a:ext cx="3733800" cy="1616075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990000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336600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Arial" panose="020B0604020202020204" pitchFamily="34" charset="0"/>
              </a:rPr>
              <a:t>FDs: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Arial" panose="020B0604020202020204" pitchFamily="34" charset="0"/>
              </a:rPr>
              <a:t>{Aadhar#, Course} </a:t>
            </a:r>
            <a:r>
              <a:rPr lang="en-US" altLang="en-US" sz="2000">
                <a:latin typeface="Arial" panose="020B0604020202020204" pitchFamily="34" charset="0"/>
                <a:sym typeface="Wingdings" panose="05000000000000000000" pitchFamily="2" charset="2"/>
              </a:rPr>
              <a:t> Grade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Arial" panose="020B0604020202020204" pitchFamily="34" charset="0"/>
                <a:sym typeface="Wingdings" panose="05000000000000000000" pitchFamily="2" charset="2"/>
              </a:rPr>
              <a:t>{Student#, Course}  Grade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Arial" panose="020B0604020202020204" pitchFamily="34" charset="0"/>
                <a:sym typeface="Wingdings" panose="05000000000000000000" pitchFamily="2" charset="2"/>
              </a:rPr>
              <a:t>{Aadhar#}  Student#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latin typeface="Arial" panose="020B0604020202020204" pitchFamily="34" charset="0"/>
                <a:sym typeface="Wingdings" panose="05000000000000000000" pitchFamily="2" charset="2"/>
              </a:rPr>
              <a:t>{Student#}  Aadhar#</a:t>
            </a: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17412" name="Text Box 5"/>
          <p:cNvSpPr txBox="1">
            <a:spLocks noChangeArrowheads="1"/>
          </p:cNvSpPr>
          <p:nvPr/>
        </p:nvSpPr>
        <p:spPr bwMode="auto">
          <a:xfrm>
            <a:off x="7543800" y="5486400"/>
            <a:ext cx="2778125" cy="57943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990000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336600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latin typeface="Arial" panose="020B0604020202020204" pitchFamily="34" charset="0"/>
              </a:rPr>
              <a:t>Is this in 3NF?</a:t>
            </a:r>
          </a:p>
        </p:txBody>
      </p:sp>
      <p:sp>
        <p:nvSpPr>
          <p:cNvPr id="17413" name="Text Box 6"/>
          <p:cNvSpPr txBox="1">
            <a:spLocks noChangeArrowheads="1"/>
          </p:cNvSpPr>
          <p:nvPr/>
        </p:nvSpPr>
        <p:spPr bwMode="auto">
          <a:xfrm>
            <a:off x="7543800" y="4648200"/>
            <a:ext cx="2778125" cy="579438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990000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336600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latin typeface="Arial" panose="020B0604020202020204" pitchFamily="34" charset="0"/>
              </a:rPr>
              <a:t>Is this in 2NF?</a:t>
            </a:r>
          </a:p>
        </p:txBody>
      </p:sp>
      <p:sp>
        <p:nvSpPr>
          <p:cNvPr id="17414" name="Text Box 7"/>
          <p:cNvSpPr txBox="1">
            <a:spLocks noChangeArrowheads="1"/>
          </p:cNvSpPr>
          <p:nvPr/>
        </p:nvSpPr>
        <p:spPr bwMode="auto">
          <a:xfrm>
            <a:off x="7543800" y="3733800"/>
            <a:ext cx="2778125" cy="579438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990000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336600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latin typeface="Arial" panose="020B0604020202020204" pitchFamily="34" charset="0"/>
              </a:rPr>
              <a:t>Is this in 1NF?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816100" y="1371600"/>
          <a:ext cx="4572000" cy="2924173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4962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96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7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0843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u="none" strike="noStrike" dirty="0" smtClean="0">
                          <a:effectLst/>
                        </a:rPr>
                        <a:t>Student#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u="none" strike="noStrike" dirty="0" err="1" smtClean="0">
                          <a:effectLst/>
                        </a:rPr>
                        <a:t>Aadhar</a:t>
                      </a:r>
                      <a:r>
                        <a:rPr lang="en-US" sz="1800" b="1" u="none" strike="noStrike" dirty="0" smtClean="0">
                          <a:effectLst/>
                        </a:rPr>
                        <a:t>#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u="none" strike="noStrike" dirty="0" smtClean="0">
                          <a:effectLst/>
                        </a:rPr>
                        <a:t>Course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u="none" strike="noStrike" dirty="0">
                          <a:effectLst/>
                        </a:rPr>
                        <a:t>Grade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2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555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S01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A01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C01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A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2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555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S01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A01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C02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A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2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555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S01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A01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C03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B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2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555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S02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A02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C01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A-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2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555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S02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A02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C02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B+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2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555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S02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A02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C03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</a:rPr>
                        <a:t>A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2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457" name="Rectangle 10"/>
          <p:cNvSpPr txBox="1">
            <a:spLocks noChangeArrowheads="1"/>
          </p:cNvSpPr>
          <p:nvPr/>
        </p:nvSpPr>
        <p:spPr bwMode="auto">
          <a:xfrm>
            <a:off x="1828800" y="4648200"/>
            <a:ext cx="8305800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990000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336600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/>
            <a:r>
              <a:rPr lang="en-US" altLang="en-US" sz="2800"/>
              <a:t>Insertion anomalies?</a:t>
            </a:r>
          </a:p>
          <a:p>
            <a:pPr eaLnBrk="1" hangingPunct="1"/>
            <a:r>
              <a:rPr lang="en-US" altLang="en-US" sz="2800"/>
              <a:t>Deletion anomalies?</a:t>
            </a:r>
          </a:p>
          <a:p>
            <a:pPr eaLnBrk="1" hangingPunct="1"/>
            <a:r>
              <a:rPr lang="en-US" altLang="en-US" sz="2800"/>
              <a:t>Modification anomalies?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Example 4 – BCNF</a:t>
            </a:r>
          </a:p>
        </p:txBody>
      </p:sp>
      <p:sp>
        <p:nvSpPr>
          <p:cNvPr id="18435" name="Rectangle 7"/>
          <p:cNvSpPr>
            <a:spLocks noChangeArrowheads="1"/>
          </p:cNvSpPr>
          <p:nvPr/>
        </p:nvSpPr>
        <p:spPr bwMode="auto">
          <a:xfrm>
            <a:off x="1981200" y="990600"/>
            <a:ext cx="8610600" cy="17526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990000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336600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/>
              <a:t>Student (</a:t>
            </a:r>
            <a:r>
              <a:rPr lang="en-US" altLang="en-US" u="sng"/>
              <a:t>Student#</a:t>
            </a:r>
            <a:r>
              <a:rPr lang="en-US" altLang="en-US"/>
              <a:t>, </a:t>
            </a:r>
            <a:r>
              <a:rPr lang="en-US" altLang="en-US" u="sng"/>
              <a:t>Aadhar#</a:t>
            </a:r>
            <a:r>
              <a:rPr lang="en-US" altLang="en-US"/>
              <a:t>)</a:t>
            </a:r>
            <a:endParaRPr lang="en-US" altLang="en-US" sz="2800"/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2400"/>
              <a:t>FD: Student# </a:t>
            </a:r>
            <a:r>
              <a:rPr lang="en-US" altLang="en-US" sz="2400">
                <a:sym typeface="Wingdings" panose="05000000000000000000" pitchFamily="2" charset="2"/>
              </a:rPr>
              <a:t> </a:t>
            </a:r>
            <a:r>
              <a:rPr lang="en-US" altLang="en-US" sz="2400"/>
              <a:t>Aadhar#	  Aadhar# </a:t>
            </a:r>
            <a:r>
              <a:rPr lang="en-US" altLang="en-US" sz="2400">
                <a:sym typeface="Wingdings" panose="05000000000000000000" pitchFamily="2" charset="2"/>
              </a:rPr>
              <a:t> Student#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800"/>
              <a:t>Enrolment (</a:t>
            </a:r>
            <a:r>
              <a:rPr lang="en-US" altLang="en-US" sz="2800" u="sng"/>
              <a:t>Student#, Course</a:t>
            </a:r>
            <a:r>
              <a:rPr lang="en-US" altLang="en-US" sz="2800"/>
              <a:t>, Grade)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2400"/>
              <a:t>FD: {Student#, Course} </a:t>
            </a:r>
            <a:r>
              <a:rPr lang="en-US" altLang="en-US" sz="2400">
                <a:sym typeface="Wingdings" panose="05000000000000000000" pitchFamily="2" charset="2"/>
              </a:rPr>
              <a:t> Grade</a:t>
            </a:r>
          </a:p>
        </p:txBody>
      </p:sp>
      <p:sp>
        <p:nvSpPr>
          <p:cNvPr id="141322" name="Text Box 10"/>
          <p:cNvSpPr txBox="1">
            <a:spLocks noChangeArrowheads="1"/>
          </p:cNvSpPr>
          <p:nvPr/>
        </p:nvSpPr>
        <p:spPr bwMode="auto">
          <a:xfrm>
            <a:off x="6781800" y="6019800"/>
            <a:ext cx="3454400" cy="579438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990000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336600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latin typeface="Arial" panose="020B0604020202020204" pitchFamily="34" charset="0"/>
              </a:rPr>
              <a:t>Is this in 3NF too?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946275" y="3352800"/>
          <a:ext cx="3733800" cy="2087864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0953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44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277"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2000" b="1" u="none" strike="noStrike" dirty="0" smtClean="0">
                          <a:effectLst/>
                        </a:rPr>
                        <a:t>Enrollment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3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327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 smtClean="0">
                          <a:effectLst/>
                        </a:rPr>
                        <a:t>Student#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 smtClean="0">
                          <a:effectLst/>
                        </a:rPr>
                        <a:t>Course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Grade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3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3327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S01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C01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A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3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3327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S01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C02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A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3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3327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S01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C03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B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3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3327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S02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C01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A-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3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3327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S02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C02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B+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3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3327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S02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C03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A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3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0" y="3352800"/>
          <a:ext cx="3581400" cy="107473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904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4418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u="none" strike="noStrike" dirty="0" smtClean="0">
                          <a:effectLst/>
                        </a:rPr>
                        <a:t>Student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8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8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44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 smtClean="0">
                          <a:effectLst/>
                        </a:rPr>
                        <a:t>Student#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 err="1" smtClean="0">
                          <a:effectLst/>
                        </a:rPr>
                        <a:t>Aadhar</a:t>
                      </a:r>
                      <a:r>
                        <a:rPr lang="en-US" sz="1600" u="none" strike="noStrike" dirty="0" smtClean="0">
                          <a:effectLst/>
                        </a:rPr>
                        <a:t>#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8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344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S01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A01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8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344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S02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A02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8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1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32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Multi-valued Attributes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09800" y="2087563"/>
          <a:ext cx="7010400" cy="1722437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24875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733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9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9782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u="none" strike="noStrike" dirty="0">
                          <a:effectLst/>
                        </a:rPr>
                        <a:t>Executive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u="none" strike="noStrike" dirty="0">
                          <a:effectLst/>
                        </a:rPr>
                        <a:t>Department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u="none" strike="noStrike" dirty="0" err="1" smtClean="0">
                          <a:effectLst/>
                        </a:rPr>
                        <a:t>CreditScore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963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Jones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{Administration, Finance, IT}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25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6692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Cooper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{Marketing, Personnel, Production}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27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209800" y="4267200"/>
          <a:ext cx="7239000" cy="22494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398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686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04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1328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</a:rPr>
                        <a:t>Executive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Department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CreditScore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27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Jones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Administration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25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27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Jones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Finance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25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27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Jones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IT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25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27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Cooper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Marketing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27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27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Cooper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Personnel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27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27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Cooper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Production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27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511" name="TextBox 7"/>
          <p:cNvSpPr txBox="1">
            <a:spLocks noChangeArrowheads="1"/>
          </p:cNvSpPr>
          <p:nvPr/>
        </p:nvSpPr>
        <p:spPr bwMode="auto">
          <a:xfrm>
            <a:off x="2133600" y="1143000"/>
            <a:ext cx="56070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990000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336600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latin typeface="Arial" panose="020B0604020202020204" pitchFamily="34" charset="0"/>
              </a:rPr>
              <a:t>Implementing Multi-Valued Attributes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Multi-valued Dependency MVD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altLang="en-US" smtClean="0"/>
              <a:t>A dependency X </a:t>
            </a:r>
            <a:r>
              <a:rPr lang="en-US" altLang="en-US" smtClean="0">
                <a:sym typeface="Wingdings" panose="05000000000000000000" pitchFamily="2" charset="2"/>
              </a:rPr>
              <a:t> Y is a MVD if Y is a multi-value attribute</a:t>
            </a:r>
          </a:p>
          <a:p>
            <a:pPr marL="0" indent="0">
              <a:buFontTx/>
              <a:buNone/>
            </a:pPr>
            <a:r>
              <a:rPr lang="en-US" altLang="en-US" smtClean="0">
                <a:sym typeface="Wingdings" panose="05000000000000000000" pitchFamily="2" charset="2"/>
              </a:rPr>
              <a:t>AND</a:t>
            </a:r>
          </a:p>
          <a:p>
            <a:pPr marL="0" indent="0">
              <a:buFontTx/>
              <a:buNone/>
            </a:pPr>
            <a:r>
              <a:rPr lang="en-US" altLang="en-US" smtClean="0">
                <a:sym typeface="Wingdings" panose="05000000000000000000" pitchFamily="2" charset="2"/>
              </a:rPr>
              <a:t>If there are two tuples t1 and t2 such that t1(X) = t2(X), then t1(Y) = t2(Y)</a:t>
            </a:r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Multi-valued Attributes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09800" y="2087563"/>
          <a:ext cx="7010400" cy="1722437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24875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733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9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9782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u="none" strike="noStrike" dirty="0">
                          <a:effectLst/>
                        </a:rPr>
                        <a:t>Executive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u="none" strike="noStrike" dirty="0">
                          <a:effectLst/>
                        </a:rPr>
                        <a:t>Department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u="none" strike="noStrike" dirty="0" err="1" smtClean="0">
                          <a:effectLst/>
                        </a:rPr>
                        <a:t>CreditScore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963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Jones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{Administration, Finance, IT}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25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6692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Cooper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{Marketing, Personnel, Production}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27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1525" name="TextBox 7"/>
          <p:cNvSpPr txBox="1">
            <a:spLocks noChangeArrowheads="1"/>
          </p:cNvSpPr>
          <p:nvPr/>
        </p:nvSpPr>
        <p:spPr bwMode="auto">
          <a:xfrm>
            <a:off x="2133600" y="914400"/>
            <a:ext cx="41925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990000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336600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 dirty="0">
                <a:latin typeface="Arial" panose="020B0604020202020204" pitchFamily="34" charset="0"/>
              </a:rPr>
              <a:t>Executive </a:t>
            </a:r>
            <a:r>
              <a:rPr lang="en-US" altLang="en-US" sz="2400" b="1" dirty="0">
                <a:latin typeface="Arial" panose="020B0604020202020204" pitchFamily="34" charset="0"/>
                <a:sym typeface="Wingdings" panose="05000000000000000000" pitchFamily="2" charset="2"/>
              </a:rPr>
              <a:t>  Department</a:t>
            </a:r>
            <a:endParaRPr lang="en-US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21526" name="TextBox 1"/>
          <p:cNvSpPr txBox="1">
            <a:spLocks noChangeArrowheads="1"/>
          </p:cNvSpPr>
          <p:nvPr/>
        </p:nvSpPr>
        <p:spPr bwMode="auto">
          <a:xfrm>
            <a:off x="2098675" y="1447800"/>
            <a:ext cx="7654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990000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336600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How do you insert a new row for Jones without violating the above MVD?</a:t>
            </a:r>
          </a:p>
        </p:txBody>
      </p:sp>
      <p:sp>
        <p:nvSpPr>
          <p:cNvPr id="21527" name="TextBox 2"/>
          <p:cNvSpPr txBox="1">
            <a:spLocks noChangeArrowheads="1"/>
          </p:cNvSpPr>
          <p:nvPr/>
        </p:nvSpPr>
        <p:spPr bwMode="auto">
          <a:xfrm>
            <a:off x="3200400" y="4876800"/>
            <a:ext cx="5867400" cy="954107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990000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336600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Arial" panose="020B0604020202020204" pitchFamily="34" charset="0"/>
              </a:rPr>
              <a:t>Show the </a:t>
            </a:r>
            <a:r>
              <a:rPr lang="en-US" altLang="en-US" sz="2800" dirty="0" smtClean="0">
                <a:latin typeface="Arial" panose="020B0604020202020204" pitchFamily="34" charset="0"/>
              </a:rPr>
              <a:t>modified </a:t>
            </a:r>
            <a:r>
              <a:rPr lang="en-US" altLang="en-US" sz="2800" dirty="0">
                <a:latin typeface="Arial" panose="020B0604020202020204" pitchFamily="34" charset="0"/>
              </a:rPr>
              <a:t>relation if I insert a new </a:t>
            </a:r>
            <a:r>
              <a:rPr lang="en-US" altLang="en-US" sz="2800" dirty="0" err="1">
                <a:latin typeface="Arial" panose="020B0604020202020204" pitchFamily="34" charset="0"/>
              </a:rPr>
              <a:t>CreditScore</a:t>
            </a:r>
            <a:r>
              <a:rPr lang="en-US" altLang="en-US" sz="2800" dirty="0">
                <a:latin typeface="Arial" panose="020B0604020202020204" pitchFamily="34" charset="0"/>
              </a:rPr>
              <a:t> of 46 for Jones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838200"/>
            <a:ext cx="9144000" cy="5149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222" name="Text Box 7"/>
          <p:cNvSpPr txBox="1">
            <a:spLocks noChangeArrowheads="1"/>
          </p:cNvSpPr>
          <p:nvPr/>
        </p:nvSpPr>
        <p:spPr bwMode="auto">
          <a:xfrm>
            <a:off x="9448800" y="3352800"/>
            <a:ext cx="1219200" cy="2159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990000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336600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b="1">
                <a:solidFill>
                  <a:srgbClr val="4D4D4D"/>
                </a:solidFill>
                <a:latin typeface="Arial" panose="020B0604020202020204" pitchFamily="34" charset="0"/>
              </a:rPr>
              <a:t>Technology</a:t>
            </a:r>
          </a:p>
        </p:txBody>
      </p:sp>
      <p:sp>
        <p:nvSpPr>
          <p:cNvPr id="9223" name="Text Box 8"/>
          <p:cNvSpPr txBox="1">
            <a:spLocks noChangeArrowheads="1"/>
          </p:cNvSpPr>
          <p:nvPr/>
        </p:nvSpPr>
        <p:spPr bwMode="auto">
          <a:xfrm>
            <a:off x="9448800" y="3657600"/>
            <a:ext cx="1219200" cy="2159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990000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336600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400" b="1">
                <a:solidFill>
                  <a:srgbClr val="4D4D4D"/>
                </a:solidFill>
                <a:latin typeface="Arial" panose="020B0604020202020204" pitchFamily="34" charset="0"/>
              </a:rPr>
              <a:t>Technology</a:t>
            </a:r>
          </a:p>
        </p:txBody>
      </p:sp>
      <p:grpSp>
        <p:nvGrpSpPr>
          <p:cNvPr id="22533" name="Group 2"/>
          <p:cNvGrpSpPr>
            <a:grpSpLocks/>
          </p:cNvGrpSpPr>
          <p:nvPr/>
        </p:nvGrpSpPr>
        <p:grpSpPr bwMode="auto">
          <a:xfrm>
            <a:off x="1524000" y="990600"/>
            <a:ext cx="4279900" cy="2971800"/>
            <a:chOff x="0" y="1219200"/>
            <a:chExt cx="4279900" cy="2743200"/>
          </a:xfrm>
        </p:grpSpPr>
        <p:sp>
          <p:nvSpPr>
            <p:cNvPr id="22537" name="Rectangle 27"/>
            <p:cNvSpPr>
              <a:spLocks noChangeArrowheads="1"/>
            </p:cNvSpPr>
            <p:nvPr/>
          </p:nvSpPr>
          <p:spPr bwMode="auto">
            <a:xfrm>
              <a:off x="2797175" y="2895600"/>
              <a:ext cx="1482725" cy="1066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b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990000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336600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fontAlgn="b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  <a:cs typeface="Arial" panose="020B0604020202020204" pitchFamily="34" charset="0"/>
                </a:rPr>
                <a:t>{R&amp;D, Recruitment}</a:t>
              </a:r>
              <a:endParaRPr lang="en-US" altLang="en-US">
                <a:latin typeface="Arial" panose="020B0604020202020204" pitchFamily="34" charset="0"/>
              </a:endParaRPr>
            </a:p>
          </p:txBody>
        </p:sp>
        <p:sp>
          <p:nvSpPr>
            <p:cNvPr id="22538" name="Rectangle 26"/>
            <p:cNvSpPr>
              <a:spLocks noChangeArrowheads="1"/>
            </p:cNvSpPr>
            <p:nvPr/>
          </p:nvSpPr>
          <p:spPr bwMode="auto">
            <a:xfrm>
              <a:off x="990600" y="2895600"/>
              <a:ext cx="1806575" cy="1066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b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990000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336600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fontAlgn="b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  <a:cs typeface="Arial" panose="020B0604020202020204" pitchFamily="34" charset="0"/>
                </a:rPr>
                <a:t>{Marketing, Personnel, Production}</a:t>
              </a:r>
              <a:endParaRPr lang="en-US" altLang="en-US">
                <a:latin typeface="Arial" panose="020B0604020202020204" pitchFamily="34" charset="0"/>
              </a:endParaRPr>
            </a:p>
          </p:txBody>
        </p:sp>
        <p:sp>
          <p:nvSpPr>
            <p:cNvPr id="22539" name="Rectangle 25"/>
            <p:cNvSpPr>
              <a:spLocks noChangeArrowheads="1"/>
            </p:cNvSpPr>
            <p:nvPr/>
          </p:nvSpPr>
          <p:spPr bwMode="auto">
            <a:xfrm>
              <a:off x="0" y="2895600"/>
              <a:ext cx="990600" cy="1066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b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990000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336600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fontAlgn="b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  <a:cs typeface="Arial" panose="020B0604020202020204" pitchFamily="34" charset="0"/>
                </a:rPr>
                <a:t>Cooper</a:t>
              </a:r>
              <a:endParaRPr lang="en-US" altLang="en-US">
                <a:latin typeface="Arial" panose="020B0604020202020204" pitchFamily="34" charset="0"/>
              </a:endParaRPr>
            </a:p>
          </p:txBody>
        </p:sp>
        <p:sp>
          <p:nvSpPr>
            <p:cNvPr id="22540" name="Rectangle 24"/>
            <p:cNvSpPr>
              <a:spLocks noChangeArrowheads="1"/>
            </p:cNvSpPr>
            <p:nvPr/>
          </p:nvSpPr>
          <p:spPr bwMode="auto">
            <a:xfrm>
              <a:off x="2797175" y="1858963"/>
              <a:ext cx="1482725" cy="10366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b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990000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336600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fontAlgn="b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  <a:cs typeface="Arial" panose="020B0604020202020204" pitchFamily="34" charset="0"/>
                </a:rPr>
                <a:t>{Planning, Technology}</a:t>
              </a:r>
              <a:endParaRPr lang="en-US" altLang="en-US">
                <a:latin typeface="Arial" panose="020B0604020202020204" pitchFamily="34" charset="0"/>
              </a:endParaRPr>
            </a:p>
          </p:txBody>
        </p:sp>
        <p:sp>
          <p:nvSpPr>
            <p:cNvPr id="22541" name="Rectangle 23"/>
            <p:cNvSpPr>
              <a:spLocks noChangeArrowheads="1"/>
            </p:cNvSpPr>
            <p:nvPr/>
          </p:nvSpPr>
          <p:spPr bwMode="auto">
            <a:xfrm>
              <a:off x="990600" y="1858963"/>
              <a:ext cx="1806575" cy="10366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b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990000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336600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fontAlgn="b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  <a:cs typeface="Arial" panose="020B0604020202020204" pitchFamily="34" charset="0"/>
                </a:rPr>
                <a:t>{Administration, Finance, IT}</a:t>
              </a:r>
              <a:endParaRPr lang="en-US" altLang="en-US">
                <a:latin typeface="Arial" panose="020B0604020202020204" pitchFamily="34" charset="0"/>
              </a:endParaRPr>
            </a:p>
          </p:txBody>
        </p:sp>
        <p:sp>
          <p:nvSpPr>
            <p:cNvPr id="22542" name="Rectangle 22"/>
            <p:cNvSpPr>
              <a:spLocks noChangeArrowheads="1"/>
            </p:cNvSpPr>
            <p:nvPr/>
          </p:nvSpPr>
          <p:spPr bwMode="auto">
            <a:xfrm>
              <a:off x="0" y="1858963"/>
              <a:ext cx="990600" cy="10366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b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990000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336600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fontAlgn="b" hangingPunct="1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  <a:cs typeface="Arial" panose="020B0604020202020204" pitchFamily="34" charset="0"/>
                </a:rPr>
                <a:t>Jones</a:t>
              </a:r>
              <a:endParaRPr lang="en-US" altLang="en-US">
                <a:latin typeface="Arial" panose="020B0604020202020204" pitchFamily="34" charset="0"/>
              </a:endParaRPr>
            </a:p>
          </p:txBody>
        </p:sp>
        <p:sp>
          <p:nvSpPr>
            <p:cNvPr id="22543" name="Rectangle 21"/>
            <p:cNvSpPr>
              <a:spLocks noChangeArrowheads="1"/>
            </p:cNvSpPr>
            <p:nvPr/>
          </p:nvSpPr>
          <p:spPr bwMode="auto">
            <a:xfrm>
              <a:off x="2797175" y="1219200"/>
              <a:ext cx="1482725" cy="63976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b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990000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336600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eaLnBrk="1" fontAlgn="b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>
                  <a:latin typeface="Arial" panose="020B0604020202020204" pitchFamily="34" charset="0"/>
                  <a:cs typeface="Arial" panose="020B0604020202020204" pitchFamily="34" charset="0"/>
                </a:rPr>
                <a:t>Committee</a:t>
              </a:r>
              <a:endParaRPr lang="en-US" altLang="en-US">
                <a:latin typeface="Arial" panose="020B0604020202020204" pitchFamily="34" charset="0"/>
              </a:endParaRPr>
            </a:p>
          </p:txBody>
        </p:sp>
        <p:sp>
          <p:nvSpPr>
            <p:cNvPr id="22544" name="Rectangle 20"/>
            <p:cNvSpPr>
              <a:spLocks noChangeArrowheads="1"/>
            </p:cNvSpPr>
            <p:nvPr/>
          </p:nvSpPr>
          <p:spPr bwMode="auto">
            <a:xfrm>
              <a:off x="990600" y="1219200"/>
              <a:ext cx="1806575" cy="63976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b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990000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336600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eaLnBrk="1" fontAlgn="b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>
                  <a:latin typeface="Arial" panose="020B0604020202020204" pitchFamily="34" charset="0"/>
                  <a:cs typeface="Arial" panose="020B0604020202020204" pitchFamily="34" charset="0"/>
                </a:rPr>
                <a:t>Department</a:t>
              </a:r>
              <a:endParaRPr lang="en-US" altLang="en-US">
                <a:latin typeface="Arial" panose="020B0604020202020204" pitchFamily="34" charset="0"/>
              </a:endParaRPr>
            </a:p>
          </p:txBody>
        </p:sp>
        <p:sp>
          <p:nvSpPr>
            <p:cNvPr id="22545" name="Rectangle 19"/>
            <p:cNvSpPr>
              <a:spLocks noChangeArrowheads="1"/>
            </p:cNvSpPr>
            <p:nvPr/>
          </p:nvSpPr>
          <p:spPr bwMode="auto">
            <a:xfrm>
              <a:off x="0" y="1219200"/>
              <a:ext cx="990600" cy="63976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b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990000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336600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 eaLnBrk="1" fontAlgn="b" hangingPunct="1">
                <a:spcBef>
                  <a:spcPct val="0"/>
                </a:spcBef>
                <a:buFontTx/>
                <a:buNone/>
              </a:pPr>
              <a:r>
                <a:rPr lang="en-US" altLang="en-US" sz="1600" b="1">
                  <a:latin typeface="Arial" panose="020B0604020202020204" pitchFamily="34" charset="0"/>
                  <a:cs typeface="Arial" panose="020B0604020202020204" pitchFamily="34" charset="0"/>
                </a:rPr>
                <a:t>Executive</a:t>
              </a:r>
              <a:endParaRPr lang="en-US" altLang="en-US" sz="2800">
                <a:latin typeface="Arial" panose="020B0604020202020204" pitchFamily="34" charset="0"/>
              </a:endParaRPr>
            </a:p>
          </p:txBody>
        </p:sp>
        <p:sp>
          <p:nvSpPr>
            <p:cNvPr id="22546" name="Line 28"/>
            <p:cNvSpPr>
              <a:spLocks noChangeShapeType="1"/>
            </p:cNvSpPr>
            <p:nvPr/>
          </p:nvSpPr>
          <p:spPr bwMode="auto">
            <a:xfrm>
              <a:off x="0" y="2895600"/>
              <a:ext cx="427990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47" name="Line 29"/>
            <p:cNvSpPr>
              <a:spLocks noChangeShapeType="1"/>
            </p:cNvSpPr>
            <p:nvPr/>
          </p:nvSpPr>
          <p:spPr bwMode="auto">
            <a:xfrm>
              <a:off x="0" y="3962400"/>
              <a:ext cx="427990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48" name="Line 30"/>
            <p:cNvSpPr>
              <a:spLocks noChangeShapeType="1"/>
            </p:cNvSpPr>
            <p:nvPr/>
          </p:nvSpPr>
          <p:spPr bwMode="auto">
            <a:xfrm>
              <a:off x="0" y="1219200"/>
              <a:ext cx="0" cy="274320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49" name="Line 31"/>
            <p:cNvSpPr>
              <a:spLocks noChangeShapeType="1"/>
            </p:cNvSpPr>
            <p:nvPr/>
          </p:nvSpPr>
          <p:spPr bwMode="auto">
            <a:xfrm>
              <a:off x="4279900" y="1219200"/>
              <a:ext cx="0" cy="274320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50" name="Line 34"/>
            <p:cNvSpPr>
              <a:spLocks noChangeShapeType="1"/>
            </p:cNvSpPr>
            <p:nvPr/>
          </p:nvSpPr>
          <p:spPr bwMode="auto">
            <a:xfrm>
              <a:off x="0" y="1858963"/>
              <a:ext cx="427990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51" name="Line 36"/>
            <p:cNvSpPr>
              <a:spLocks noChangeShapeType="1"/>
            </p:cNvSpPr>
            <p:nvPr/>
          </p:nvSpPr>
          <p:spPr bwMode="auto">
            <a:xfrm>
              <a:off x="990600" y="1219200"/>
              <a:ext cx="0" cy="274320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52" name="Line 39"/>
            <p:cNvSpPr>
              <a:spLocks noChangeShapeType="1"/>
            </p:cNvSpPr>
            <p:nvPr/>
          </p:nvSpPr>
          <p:spPr bwMode="auto">
            <a:xfrm>
              <a:off x="2797175" y="1219200"/>
              <a:ext cx="0" cy="274320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53" name="Line 43"/>
            <p:cNvSpPr>
              <a:spLocks noChangeShapeType="1"/>
            </p:cNvSpPr>
            <p:nvPr/>
          </p:nvSpPr>
          <p:spPr bwMode="auto">
            <a:xfrm>
              <a:off x="0" y="2895600"/>
              <a:ext cx="427990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5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More than one MVD</a:t>
            </a:r>
          </a:p>
        </p:txBody>
      </p:sp>
      <p:sp>
        <p:nvSpPr>
          <p:cNvPr id="12311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1752600" y="4114800"/>
            <a:ext cx="4343400" cy="1752600"/>
          </a:xfrm>
          <a:solidFill>
            <a:srgbClr val="FFCC00"/>
          </a:solidFill>
        </p:spPr>
        <p:txBody>
          <a:bodyPr/>
          <a:lstStyle/>
          <a:p>
            <a:pPr eaLnBrk="1" hangingPunct="1"/>
            <a:r>
              <a:rPr lang="en-US" altLang="en-US" sz="2400" smtClean="0"/>
              <a:t>Insertion anomalies?</a:t>
            </a:r>
          </a:p>
          <a:p>
            <a:pPr eaLnBrk="1" hangingPunct="1"/>
            <a:r>
              <a:rPr lang="en-US" altLang="en-US" sz="2400" smtClean="0"/>
              <a:t>Deletion anomalies?</a:t>
            </a:r>
          </a:p>
          <a:p>
            <a:pPr eaLnBrk="1" hangingPunct="1"/>
            <a:r>
              <a:rPr lang="en-US" altLang="en-US" sz="2400" smtClean="0"/>
              <a:t>Modification anomalies?</a:t>
            </a:r>
          </a:p>
        </p:txBody>
      </p:sp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6324600" y="6000750"/>
            <a:ext cx="4343400" cy="646113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990000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336600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See the uploaded paper for other implementations of MVD relations</a:t>
            </a:r>
          </a:p>
        </p:txBody>
      </p:sp>
      <p:sp>
        <p:nvSpPr>
          <p:cNvPr id="26" name="TextBox 7"/>
          <p:cNvSpPr txBox="1">
            <a:spLocks noChangeArrowheads="1"/>
          </p:cNvSpPr>
          <p:nvPr/>
        </p:nvSpPr>
        <p:spPr bwMode="auto">
          <a:xfrm>
            <a:off x="418306" y="5872955"/>
            <a:ext cx="419217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990000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336600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 dirty="0">
                <a:latin typeface="Arial" panose="020B0604020202020204" pitchFamily="34" charset="0"/>
              </a:rPr>
              <a:t>Executive </a:t>
            </a:r>
            <a:r>
              <a:rPr lang="en-US" altLang="en-US" sz="2400" b="1" dirty="0">
                <a:latin typeface="Arial" panose="020B0604020202020204" pitchFamily="34" charset="0"/>
                <a:sym typeface="Wingdings" panose="05000000000000000000" pitchFamily="2" charset="2"/>
              </a:rPr>
              <a:t>  </a:t>
            </a:r>
            <a:r>
              <a:rPr lang="en-US" altLang="en-US" sz="2400" b="1" dirty="0" smtClean="0">
                <a:latin typeface="Arial" panose="020B0604020202020204" pitchFamily="34" charset="0"/>
                <a:sym typeface="Wingdings" panose="05000000000000000000" pitchFamily="2" charset="2"/>
              </a:rPr>
              <a:t>Department</a:t>
            </a:r>
          </a:p>
          <a:p>
            <a:pPr eaLnBrk="1" hangingPunct="1">
              <a:spcBef>
                <a:spcPct val="0"/>
              </a:spcBef>
              <a:buNone/>
            </a:pPr>
            <a:r>
              <a:rPr lang="en-US" altLang="en-US" sz="2400" b="1" dirty="0">
                <a:latin typeface="Arial" panose="020B0604020202020204" pitchFamily="34" charset="0"/>
              </a:rPr>
              <a:t>Executive </a:t>
            </a:r>
            <a:r>
              <a:rPr lang="en-US" altLang="en-US" sz="2400" b="1" dirty="0">
                <a:latin typeface="Arial" panose="020B0604020202020204" pitchFamily="34" charset="0"/>
                <a:sym typeface="Wingdings" panose="05000000000000000000" pitchFamily="2" charset="2"/>
              </a:rPr>
              <a:t>  </a:t>
            </a:r>
            <a:r>
              <a:rPr lang="en-US" altLang="en-US" sz="2400" b="1" dirty="0" smtClean="0">
                <a:latin typeface="Arial" panose="020B0604020202020204" pitchFamily="34" charset="0"/>
                <a:sym typeface="Wingdings" panose="05000000000000000000" pitchFamily="2" charset="2"/>
              </a:rPr>
              <a:t>Committee</a:t>
            </a:r>
            <a:endParaRPr lang="en-US" altLang="en-US" sz="2400" b="1" dirty="0">
              <a:latin typeface="Arial" panose="020B0604020202020204" pitchFamily="34" charset="0"/>
              <a:sym typeface="Wingdings" panose="05000000000000000000" pitchFamily="2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2" grpId="0" animBg="1"/>
      <p:bldP spid="9223" grpId="0" animBg="1"/>
      <p:bldP spid="12311" grpId="0" build="p" animBg="1"/>
      <p:bldP spid="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4</a:t>
            </a:r>
            <a:r>
              <a:rPr lang="en-US" altLang="en-US" baseline="30000" smtClean="0"/>
              <a:t>th</a:t>
            </a:r>
            <a:r>
              <a:rPr lang="en-US" altLang="en-US" smtClean="0"/>
              <a:t> Normal Form</a:t>
            </a:r>
          </a:p>
        </p:txBody>
      </p:sp>
      <p:pic>
        <p:nvPicPr>
          <p:cNvPr id="2355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828800"/>
            <a:ext cx="8610600" cy="3273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Example 1: Ternary Relationship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304800" y="1143000"/>
            <a:ext cx="7620000" cy="3284537"/>
            <a:chOff x="304800" y="1143000"/>
            <a:chExt cx="7620000" cy="3284537"/>
          </a:xfrm>
        </p:grpSpPr>
        <p:sp>
          <p:nvSpPr>
            <p:cNvPr id="4" name="Rectangle 3"/>
            <p:cNvSpPr/>
            <p:nvPr/>
          </p:nvSpPr>
          <p:spPr>
            <a:xfrm>
              <a:off x="304800" y="1150937"/>
              <a:ext cx="1828800" cy="1143000"/>
            </a:xfrm>
            <a:prstGeom prst="rect">
              <a:avLst/>
            </a:prstGeom>
            <a:ln>
              <a:solidFill>
                <a:schemeClr val="accent1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dirty="0">
                  <a:solidFill>
                    <a:schemeClr val="tx1"/>
                  </a:solidFill>
                </a:rPr>
                <a:t>Building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5562600" y="1143000"/>
              <a:ext cx="2362200" cy="1143000"/>
            </a:xfrm>
            <a:prstGeom prst="rect">
              <a:avLst/>
            </a:prstGeom>
            <a:ln>
              <a:solidFill>
                <a:schemeClr val="accent1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dirty="0">
                  <a:solidFill>
                    <a:schemeClr val="tx1"/>
                  </a:solidFill>
                </a:rPr>
                <a:t>Supplier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2590800" y="3284537"/>
              <a:ext cx="2362200" cy="1143000"/>
            </a:xfrm>
            <a:prstGeom prst="rect">
              <a:avLst/>
            </a:prstGeom>
            <a:ln>
              <a:solidFill>
                <a:schemeClr val="accent1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dirty="0">
                  <a:solidFill>
                    <a:schemeClr val="tx1"/>
                  </a:solidFill>
                </a:rPr>
                <a:t>Material</a:t>
              </a:r>
            </a:p>
          </p:txBody>
        </p:sp>
        <p:sp>
          <p:nvSpPr>
            <p:cNvPr id="7" name="Flowchart: Decision 6"/>
            <p:cNvSpPr/>
            <p:nvPr/>
          </p:nvSpPr>
          <p:spPr>
            <a:xfrm>
              <a:off x="2590800" y="1227137"/>
              <a:ext cx="2362200" cy="990600"/>
            </a:xfrm>
            <a:prstGeom prst="flowChartDecision">
              <a:avLst/>
            </a:prstGeom>
            <a:ln>
              <a:solidFill>
                <a:schemeClr val="accent1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dirty="0">
                  <a:solidFill>
                    <a:schemeClr val="tx1"/>
                  </a:solidFill>
                </a:rPr>
                <a:t>Supplies</a:t>
              </a:r>
            </a:p>
          </p:txBody>
        </p:sp>
        <p:cxnSp>
          <p:nvCxnSpPr>
            <p:cNvPr id="9" name="Straight Connector 8"/>
            <p:cNvCxnSpPr>
              <a:stCxn id="4" idx="3"/>
              <a:endCxn id="7" idx="1"/>
            </p:cNvCxnSpPr>
            <p:nvPr/>
          </p:nvCxnSpPr>
          <p:spPr>
            <a:xfrm>
              <a:off x="2133600" y="1722437"/>
              <a:ext cx="457200" cy="0"/>
            </a:xfrm>
            <a:prstGeom prst="line">
              <a:avLst/>
            </a:prstGeom>
            <a:ln>
              <a:solidFill>
                <a:schemeClr val="accent1">
                  <a:lumMod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>
              <a:stCxn id="7" idx="3"/>
              <a:endCxn id="5" idx="1"/>
            </p:cNvCxnSpPr>
            <p:nvPr/>
          </p:nvCxnSpPr>
          <p:spPr>
            <a:xfrm flipV="1">
              <a:off x="4953000" y="1714500"/>
              <a:ext cx="609600" cy="7937"/>
            </a:xfrm>
            <a:prstGeom prst="line">
              <a:avLst/>
            </a:prstGeom>
            <a:ln>
              <a:solidFill>
                <a:schemeClr val="accent1">
                  <a:lumMod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>
              <a:stCxn id="7" idx="2"/>
              <a:endCxn id="6" idx="0"/>
            </p:cNvCxnSpPr>
            <p:nvPr/>
          </p:nvCxnSpPr>
          <p:spPr>
            <a:xfrm>
              <a:off x="3771900" y="2217737"/>
              <a:ext cx="0" cy="1066800"/>
            </a:xfrm>
            <a:prstGeom prst="line">
              <a:avLst/>
            </a:prstGeom>
            <a:ln>
              <a:solidFill>
                <a:schemeClr val="accent1">
                  <a:lumMod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3279221"/>
            <a:ext cx="6008744" cy="3088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Fifth Normal Form (5NF)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19200"/>
            <a:ext cx="10972800" cy="5181600"/>
          </a:xfrm>
        </p:spPr>
        <p:txBody>
          <a:bodyPr/>
          <a:lstStyle/>
          <a:p>
            <a:r>
              <a:rPr lang="en-US" dirty="0" smtClean="0"/>
              <a:t>JOIN dependency is a type of constraint that allows data of a relation R to be re-generated exactly (“lossless”) by doing the JOIN operation on smaller decomposition (R</a:t>
            </a:r>
            <a:r>
              <a:rPr lang="en-US" baseline="-25000" dirty="0" smtClean="0"/>
              <a:t>1</a:t>
            </a:r>
            <a:r>
              <a:rPr lang="en-US" dirty="0" smtClean="0"/>
              <a:t>, R</a:t>
            </a:r>
            <a:r>
              <a:rPr lang="en-US" baseline="-25000" dirty="0"/>
              <a:t>2</a:t>
            </a:r>
            <a:r>
              <a:rPr lang="en-US" dirty="0" smtClean="0"/>
              <a:t>, …R</a:t>
            </a:r>
            <a:r>
              <a:rPr lang="en-US" baseline="-25000" dirty="0" smtClean="0"/>
              <a:t>n</a:t>
            </a:r>
            <a:r>
              <a:rPr lang="en-US" dirty="0" smtClean="0"/>
              <a:t>)of the original table</a:t>
            </a:r>
          </a:p>
          <a:p>
            <a:r>
              <a:rPr lang="en-US" dirty="0" smtClean="0"/>
              <a:t>A relation R is in 5NF if there are no JOIN dependencies in R</a:t>
            </a:r>
          </a:p>
          <a:p>
            <a:r>
              <a:rPr lang="en-US" dirty="0" smtClean="0"/>
              <a:t>You can verify if a relation is in 5NF by showing that a lossless JOIN of decomposition is not possible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9477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Example 1: Ternary Relationship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447800"/>
            <a:ext cx="6819630" cy="2947559"/>
          </a:xfrm>
          <a:prstGeom prst="rect">
            <a:avLst/>
          </a:prstGeom>
        </p:spPr>
      </p:pic>
      <p:pic>
        <p:nvPicPr>
          <p:cNvPr id="7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28"/>
          <a:stretch/>
        </p:blipFill>
        <p:spPr bwMode="auto">
          <a:xfrm>
            <a:off x="5588390" y="3048000"/>
            <a:ext cx="6134554" cy="266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08937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Binary Decomposition of Ternary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362200"/>
            <a:ext cx="4704025" cy="203315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2362200"/>
            <a:ext cx="4680377" cy="25239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524000"/>
            <a:ext cx="3018968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TERNARY RELATIONSHIP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6895634" y="1514104"/>
            <a:ext cx="4605107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BINARY DECOMPOSITION OF TERNARY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Example 2: Ternary Relationship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304800" y="1143000"/>
            <a:ext cx="7620000" cy="3284537"/>
            <a:chOff x="304800" y="1143000"/>
            <a:chExt cx="7620000" cy="3284537"/>
          </a:xfrm>
        </p:grpSpPr>
        <p:sp>
          <p:nvSpPr>
            <p:cNvPr id="4" name="Rectangle 3"/>
            <p:cNvSpPr/>
            <p:nvPr/>
          </p:nvSpPr>
          <p:spPr>
            <a:xfrm>
              <a:off x="304800" y="1150937"/>
              <a:ext cx="1828800" cy="1143000"/>
            </a:xfrm>
            <a:prstGeom prst="rect">
              <a:avLst/>
            </a:prstGeom>
            <a:ln>
              <a:solidFill>
                <a:schemeClr val="accent1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dirty="0" smtClean="0">
                  <a:solidFill>
                    <a:schemeClr val="tx1"/>
                  </a:solidFill>
                </a:rPr>
                <a:t>Agent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Rectangle 4"/>
            <p:cNvSpPr/>
            <p:nvPr/>
          </p:nvSpPr>
          <p:spPr>
            <a:xfrm>
              <a:off x="5562600" y="1143000"/>
              <a:ext cx="2362200" cy="1143000"/>
            </a:xfrm>
            <a:prstGeom prst="rect">
              <a:avLst/>
            </a:prstGeom>
            <a:ln>
              <a:solidFill>
                <a:schemeClr val="accent1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dirty="0" smtClean="0">
                  <a:solidFill>
                    <a:schemeClr val="tx1"/>
                  </a:solidFill>
                </a:rPr>
                <a:t>Company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2590800" y="3284537"/>
              <a:ext cx="2362200" cy="1143000"/>
            </a:xfrm>
            <a:prstGeom prst="rect">
              <a:avLst/>
            </a:prstGeom>
            <a:ln>
              <a:solidFill>
                <a:schemeClr val="accent1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dirty="0" smtClean="0">
                  <a:solidFill>
                    <a:schemeClr val="tx1"/>
                  </a:solidFill>
                </a:rPr>
                <a:t>Product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Flowchart: Decision 6"/>
            <p:cNvSpPr/>
            <p:nvPr/>
          </p:nvSpPr>
          <p:spPr>
            <a:xfrm>
              <a:off x="2590800" y="1227137"/>
              <a:ext cx="2362200" cy="990600"/>
            </a:xfrm>
            <a:prstGeom prst="flowChartDecision">
              <a:avLst/>
            </a:prstGeom>
            <a:ln>
              <a:solidFill>
                <a:schemeClr val="accent1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dirty="0" smtClean="0">
                  <a:solidFill>
                    <a:schemeClr val="tx1"/>
                  </a:solidFill>
                </a:rPr>
                <a:t>SELLS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9" name="Straight Connector 8"/>
            <p:cNvCxnSpPr>
              <a:stCxn id="4" idx="3"/>
              <a:endCxn id="7" idx="1"/>
            </p:cNvCxnSpPr>
            <p:nvPr/>
          </p:nvCxnSpPr>
          <p:spPr>
            <a:xfrm>
              <a:off x="2133600" y="1722437"/>
              <a:ext cx="457200" cy="0"/>
            </a:xfrm>
            <a:prstGeom prst="line">
              <a:avLst/>
            </a:prstGeom>
            <a:ln>
              <a:solidFill>
                <a:schemeClr val="accent1">
                  <a:lumMod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>
              <a:stCxn id="7" idx="3"/>
              <a:endCxn id="5" idx="1"/>
            </p:cNvCxnSpPr>
            <p:nvPr/>
          </p:nvCxnSpPr>
          <p:spPr>
            <a:xfrm flipV="1">
              <a:off x="4953000" y="1714500"/>
              <a:ext cx="609600" cy="7937"/>
            </a:xfrm>
            <a:prstGeom prst="line">
              <a:avLst/>
            </a:prstGeom>
            <a:ln>
              <a:solidFill>
                <a:schemeClr val="accent1">
                  <a:lumMod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>
              <a:stCxn id="7" idx="2"/>
              <a:endCxn id="6" idx="0"/>
            </p:cNvCxnSpPr>
            <p:nvPr/>
          </p:nvCxnSpPr>
          <p:spPr>
            <a:xfrm>
              <a:off x="3771900" y="2217737"/>
              <a:ext cx="0" cy="1066800"/>
            </a:xfrm>
            <a:prstGeom prst="line">
              <a:avLst/>
            </a:prstGeom>
            <a:ln>
              <a:solidFill>
                <a:schemeClr val="accent1">
                  <a:lumMod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3048000"/>
            <a:ext cx="5644157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56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Ternary </a:t>
            </a:r>
            <a:r>
              <a:rPr lang="en-US" altLang="en-US" dirty="0" smtClean="0">
                <a:sym typeface="Wingdings" panose="05000000000000000000" pitchFamily="2" charset="2"/>
              </a:rPr>
              <a:t> Binary</a:t>
            </a:r>
            <a:endParaRPr lang="en-US" altLang="en-US" dirty="0" smtClean="0"/>
          </a:p>
        </p:txBody>
      </p:sp>
      <p:grpSp>
        <p:nvGrpSpPr>
          <p:cNvPr id="3" name="Group 2"/>
          <p:cNvGrpSpPr/>
          <p:nvPr/>
        </p:nvGrpSpPr>
        <p:grpSpPr>
          <a:xfrm>
            <a:off x="2019300" y="1455738"/>
            <a:ext cx="8202613" cy="4411662"/>
            <a:chOff x="2019300" y="1455738"/>
            <a:chExt cx="8202613" cy="4411662"/>
          </a:xfrm>
        </p:grpSpPr>
        <p:sp>
          <p:nvSpPr>
            <p:cNvPr id="4" name="Rectangle 3"/>
            <p:cNvSpPr/>
            <p:nvPr/>
          </p:nvSpPr>
          <p:spPr>
            <a:xfrm>
              <a:off x="2286000" y="1455738"/>
              <a:ext cx="1828800" cy="1143000"/>
            </a:xfrm>
            <a:prstGeom prst="rect">
              <a:avLst/>
            </a:prstGeom>
            <a:ln>
              <a:solidFill>
                <a:schemeClr val="accent1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dirty="0" smtClean="0">
                  <a:solidFill>
                    <a:schemeClr val="tx1"/>
                  </a:solidFill>
                </a:rPr>
                <a:t>Agent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Rectangle 4"/>
            <p:cNvSpPr/>
            <p:nvPr/>
          </p:nvSpPr>
          <p:spPr>
            <a:xfrm>
              <a:off x="7859713" y="1465263"/>
              <a:ext cx="2362200" cy="1143000"/>
            </a:xfrm>
            <a:prstGeom prst="rect">
              <a:avLst/>
            </a:prstGeom>
            <a:ln>
              <a:solidFill>
                <a:schemeClr val="accent1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dirty="0" smtClean="0">
                  <a:solidFill>
                    <a:schemeClr val="tx1"/>
                  </a:solidFill>
                </a:rPr>
                <a:t>Company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4800600" y="4724400"/>
              <a:ext cx="2362200" cy="1143000"/>
            </a:xfrm>
            <a:prstGeom prst="rect">
              <a:avLst/>
            </a:prstGeom>
            <a:ln>
              <a:solidFill>
                <a:schemeClr val="accent1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dirty="0" smtClean="0">
                  <a:solidFill>
                    <a:schemeClr val="tx1"/>
                  </a:solidFill>
                </a:rPr>
                <a:t>Product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Flowchart: Decision 6"/>
            <p:cNvSpPr/>
            <p:nvPr/>
          </p:nvSpPr>
          <p:spPr>
            <a:xfrm>
              <a:off x="4572000" y="1531938"/>
              <a:ext cx="2362200" cy="990600"/>
            </a:xfrm>
            <a:prstGeom prst="flowChartDecision">
              <a:avLst/>
            </a:prstGeom>
            <a:ln>
              <a:solidFill>
                <a:schemeClr val="accent1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dirty="0" smtClean="0">
                  <a:solidFill>
                    <a:schemeClr val="tx1"/>
                  </a:solidFill>
                </a:rPr>
                <a:t>Sells-products-of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9" name="Straight Connector 8"/>
            <p:cNvCxnSpPr>
              <a:stCxn id="4" idx="3"/>
              <a:endCxn id="7" idx="1"/>
            </p:cNvCxnSpPr>
            <p:nvPr/>
          </p:nvCxnSpPr>
          <p:spPr>
            <a:xfrm>
              <a:off x="4114800" y="2027238"/>
              <a:ext cx="457200" cy="0"/>
            </a:xfrm>
            <a:prstGeom prst="line">
              <a:avLst/>
            </a:prstGeom>
            <a:ln>
              <a:solidFill>
                <a:schemeClr val="accent1">
                  <a:lumMod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>
              <a:stCxn id="7" idx="3"/>
              <a:endCxn id="5" idx="1"/>
            </p:cNvCxnSpPr>
            <p:nvPr/>
          </p:nvCxnSpPr>
          <p:spPr>
            <a:xfrm>
              <a:off x="6934200" y="2027238"/>
              <a:ext cx="925513" cy="9525"/>
            </a:xfrm>
            <a:prstGeom prst="line">
              <a:avLst/>
            </a:prstGeom>
            <a:ln>
              <a:solidFill>
                <a:schemeClr val="accent1">
                  <a:lumMod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lowchart: Decision 9"/>
            <p:cNvSpPr/>
            <p:nvPr/>
          </p:nvSpPr>
          <p:spPr>
            <a:xfrm>
              <a:off x="2019300" y="4800600"/>
              <a:ext cx="2362200" cy="990600"/>
            </a:xfrm>
            <a:prstGeom prst="flowChartDecision">
              <a:avLst/>
            </a:prstGeom>
            <a:ln>
              <a:solidFill>
                <a:schemeClr val="accent1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dirty="0" smtClean="0">
                  <a:solidFill>
                    <a:schemeClr val="tx1"/>
                  </a:solidFill>
                </a:rPr>
                <a:t>Sells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2" name="Flowchart: Decision 11"/>
            <p:cNvSpPr/>
            <p:nvPr/>
          </p:nvSpPr>
          <p:spPr>
            <a:xfrm>
              <a:off x="7848600" y="4800600"/>
              <a:ext cx="2362200" cy="990600"/>
            </a:xfrm>
            <a:prstGeom prst="flowChartDecision">
              <a:avLst/>
            </a:prstGeom>
            <a:ln>
              <a:solidFill>
                <a:schemeClr val="accent1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r>
                <a:rPr lang="en-US" dirty="0" smtClean="0">
                  <a:solidFill>
                    <a:schemeClr val="tx1"/>
                  </a:solidFill>
                </a:rPr>
                <a:t>Made-by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4" name="Straight Connector 13"/>
            <p:cNvCxnSpPr>
              <a:stCxn id="4" idx="2"/>
              <a:endCxn id="10" idx="0"/>
            </p:cNvCxnSpPr>
            <p:nvPr/>
          </p:nvCxnSpPr>
          <p:spPr>
            <a:xfrm>
              <a:off x="3200400" y="2598738"/>
              <a:ext cx="0" cy="2201862"/>
            </a:xfrm>
            <a:prstGeom prst="line">
              <a:avLst/>
            </a:prstGeom>
            <a:ln>
              <a:solidFill>
                <a:schemeClr val="accent1">
                  <a:lumMod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>
              <a:stCxn id="10" idx="3"/>
              <a:endCxn id="6" idx="1"/>
            </p:cNvCxnSpPr>
            <p:nvPr/>
          </p:nvCxnSpPr>
          <p:spPr>
            <a:xfrm>
              <a:off x="4381500" y="5295900"/>
              <a:ext cx="419100" cy="0"/>
            </a:xfrm>
            <a:prstGeom prst="line">
              <a:avLst/>
            </a:prstGeom>
            <a:ln>
              <a:solidFill>
                <a:schemeClr val="accent1">
                  <a:lumMod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>
              <a:stCxn id="12" idx="1"/>
              <a:endCxn id="6" idx="3"/>
            </p:cNvCxnSpPr>
            <p:nvPr/>
          </p:nvCxnSpPr>
          <p:spPr>
            <a:xfrm flipH="1">
              <a:off x="7162800" y="5295900"/>
              <a:ext cx="685800" cy="0"/>
            </a:xfrm>
            <a:prstGeom prst="line">
              <a:avLst/>
            </a:prstGeom>
            <a:ln>
              <a:solidFill>
                <a:schemeClr val="accent1">
                  <a:lumMod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>
              <a:stCxn id="5" idx="2"/>
              <a:endCxn id="12" idx="0"/>
            </p:cNvCxnSpPr>
            <p:nvPr/>
          </p:nvCxnSpPr>
          <p:spPr>
            <a:xfrm flipH="1">
              <a:off x="9029700" y="2608263"/>
              <a:ext cx="11113" cy="2192337"/>
            </a:xfrm>
            <a:prstGeom prst="line">
              <a:avLst/>
            </a:prstGeom>
            <a:ln>
              <a:solidFill>
                <a:schemeClr val="accent1">
                  <a:lumMod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Binary Decomposition of Ternary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24000"/>
            <a:ext cx="3018968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TERNARY RELATIONSHIP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6895634" y="1514104"/>
            <a:ext cx="4605107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BINARY DECOMPOSITION OF TERNARY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798088"/>
            <a:ext cx="3822523" cy="165215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0" y="2775051"/>
            <a:ext cx="4397767" cy="2371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181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Example 1: LOSSY DECOMPOSITION</a:t>
            </a:r>
          </a:p>
        </p:txBody>
      </p:sp>
      <p:pic>
        <p:nvPicPr>
          <p:cNvPr id="27651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58" t="52818" r="28392"/>
          <a:stretch/>
        </p:blipFill>
        <p:spPr bwMode="auto">
          <a:xfrm>
            <a:off x="4716420" y="1295400"/>
            <a:ext cx="2148779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250" b="52884"/>
          <a:stretch/>
        </p:blipFill>
        <p:spPr bwMode="auto">
          <a:xfrm>
            <a:off x="4648200" y="4876800"/>
            <a:ext cx="2209800" cy="17998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5" r="55475" b="52691"/>
          <a:stretch/>
        </p:blipFill>
        <p:spPr bwMode="auto">
          <a:xfrm>
            <a:off x="4717924" y="3124200"/>
            <a:ext cx="2157797" cy="1764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7239000" y="950360"/>
            <a:ext cx="4006225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JOIN of the three decomposed tables</a:t>
            </a:r>
            <a:endParaRPr lang="en-US" dirty="0"/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28"/>
          <a:stretch/>
        </p:blipFill>
        <p:spPr bwMode="auto">
          <a:xfrm>
            <a:off x="43346" y="1365860"/>
            <a:ext cx="4483943" cy="19493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7069900" y="3715367"/>
            <a:ext cx="4358528" cy="1600438"/>
          </a:xfrm>
          <a:prstGeom prst="rect">
            <a:avLst/>
          </a:prstGeom>
          <a:solidFill>
            <a:srgbClr val="99FFCC"/>
          </a:solidFill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THE ABOVE IS NOT EQUAL TO ORIGINAL TABLE. So the decomposition is LOSSY.</a:t>
            </a:r>
          </a:p>
          <a:p>
            <a:endParaRPr lang="en-US" sz="1400" dirty="0"/>
          </a:p>
          <a:p>
            <a:r>
              <a:rPr lang="en-US" sz="1400" dirty="0" smtClean="0"/>
              <a:t>In other words, there is NO JOIN DEPENDENCY in the original relation.</a:t>
            </a:r>
          </a:p>
          <a:p>
            <a:endParaRPr lang="en-US" sz="1400" dirty="0"/>
          </a:p>
          <a:p>
            <a:r>
              <a:rPr lang="en-US" sz="1400" dirty="0" smtClean="0"/>
              <a:t>This means the Original Table is already in 5NF</a:t>
            </a:r>
            <a:endParaRPr lang="en-US" sz="1400" dirty="0"/>
          </a:p>
        </p:txBody>
      </p:sp>
      <p:sp>
        <p:nvSpPr>
          <p:cNvPr id="16" name="TextBox 15"/>
          <p:cNvSpPr txBox="1"/>
          <p:nvPr/>
        </p:nvSpPr>
        <p:spPr>
          <a:xfrm>
            <a:off x="152400" y="950360"/>
            <a:ext cx="1591205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Original Table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4720259" y="939634"/>
            <a:ext cx="2270878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Decomposed Tables</a:t>
            </a:r>
            <a:endParaRPr lang="en-US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6356" y="1332097"/>
            <a:ext cx="4682634" cy="230442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52400" y="3572042"/>
            <a:ext cx="462498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solidFill>
                  <a:srgbClr val="FF0000"/>
                </a:solidFill>
              </a:rPr>
              <a:t>In 5NF already</a:t>
            </a:r>
          </a:p>
          <a:p>
            <a:r>
              <a:rPr lang="en-US" sz="3200" dirty="0" smtClean="0">
                <a:solidFill>
                  <a:srgbClr val="FF0000"/>
                </a:solidFill>
              </a:rPr>
              <a:t>(because decomposition</a:t>
            </a:r>
          </a:p>
          <a:p>
            <a:r>
              <a:rPr lang="en-US" sz="3200" dirty="0" smtClean="0">
                <a:solidFill>
                  <a:srgbClr val="FF0000"/>
                </a:solidFill>
              </a:rPr>
              <a:t>Is LOSSY</a:t>
            </a:r>
            <a:r>
              <a:rPr lang="en-US" sz="3200" dirty="0" smtClean="0">
                <a:solidFill>
                  <a:srgbClr val="FF0000"/>
                </a:solidFill>
              </a:rPr>
              <a:t>)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069900" y="5357553"/>
            <a:ext cx="4358528" cy="1384995"/>
          </a:xfrm>
          <a:prstGeom prst="rect">
            <a:avLst/>
          </a:prstGeom>
          <a:solidFill>
            <a:srgbClr val="99FFCC"/>
          </a:solidFill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Application Interpretation:</a:t>
            </a:r>
          </a:p>
          <a:p>
            <a:endParaRPr lang="en-US" sz="1400" dirty="0"/>
          </a:p>
          <a:p>
            <a:r>
              <a:rPr lang="en-US" sz="1400" dirty="0" smtClean="0"/>
              <a:t>It is okay if we are selective about supply of materials from suppliers to buildings. In other words, it is okay if B45 does NOT take Sheet Rock from supplier S72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Example 2: LOSSLESS DECOMPOSITION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39000" y="950360"/>
            <a:ext cx="4006225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JOIN of the three decomposed tables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267353" y="3587859"/>
            <a:ext cx="4358528" cy="1815882"/>
          </a:xfrm>
          <a:prstGeom prst="rect">
            <a:avLst/>
          </a:prstGeom>
          <a:solidFill>
            <a:srgbClr val="99FFCC"/>
          </a:solidFill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THE ABOVE IS EQUAL TO ORIGINAL TABLE. So the decomposition is LOSSLESS.</a:t>
            </a:r>
          </a:p>
          <a:p>
            <a:endParaRPr lang="en-US" sz="1400" dirty="0"/>
          </a:p>
          <a:p>
            <a:r>
              <a:rPr lang="en-US" sz="1400" dirty="0" smtClean="0"/>
              <a:t>In other words, there is JOIN DEPENDENCY in the original relation.</a:t>
            </a:r>
          </a:p>
          <a:p>
            <a:endParaRPr lang="en-US" sz="1400" dirty="0"/>
          </a:p>
          <a:p>
            <a:r>
              <a:rPr lang="en-US" sz="1400" dirty="0" smtClean="0"/>
              <a:t>This means the Original Table can be decomposed further to convert the relations into 5NF</a:t>
            </a:r>
            <a:endParaRPr lang="en-US" sz="1400" dirty="0"/>
          </a:p>
        </p:txBody>
      </p:sp>
      <p:sp>
        <p:nvSpPr>
          <p:cNvPr id="16" name="TextBox 15"/>
          <p:cNvSpPr txBox="1"/>
          <p:nvPr/>
        </p:nvSpPr>
        <p:spPr>
          <a:xfrm>
            <a:off x="152400" y="950360"/>
            <a:ext cx="1591205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Original Table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4720259" y="939634"/>
            <a:ext cx="2270878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Decomposed Tables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447727"/>
            <a:ext cx="3482680" cy="220987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r="54960"/>
          <a:stretch/>
        </p:blipFill>
        <p:spPr>
          <a:xfrm>
            <a:off x="4572000" y="1447540"/>
            <a:ext cx="2178161" cy="168877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1" y="2895600"/>
            <a:ext cx="2286000" cy="1704814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4495800"/>
            <a:ext cx="2343962" cy="1781591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8268" y="1399180"/>
            <a:ext cx="3681411" cy="233790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15352" y="4495800"/>
            <a:ext cx="386516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smtClean="0">
                <a:solidFill>
                  <a:srgbClr val="FF0000"/>
                </a:solidFill>
              </a:rPr>
              <a:t>NOT IN 5NF</a:t>
            </a:r>
          </a:p>
          <a:p>
            <a:r>
              <a:rPr lang="en-US" sz="4000" dirty="0" smtClean="0">
                <a:solidFill>
                  <a:srgbClr val="FF0000"/>
                </a:solidFill>
              </a:rPr>
              <a:t>(decomposable)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239000" y="5473005"/>
            <a:ext cx="4358528" cy="954107"/>
          </a:xfrm>
          <a:prstGeom prst="rect">
            <a:avLst/>
          </a:prstGeom>
          <a:solidFill>
            <a:srgbClr val="99FFCC"/>
          </a:solidFill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Application Interpretation:</a:t>
            </a:r>
          </a:p>
          <a:p>
            <a:r>
              <a:rPr lang="en-US" sz="1400" dirty="0" smtClean="0"/>
              <a:t>Jones cannot selectively sell GM’s Truck. If he wants to sell GM’s Truck, he should sell Ford’s truck as well as GM’s car!</a:t>
            </a:r>
            <a:endParaRPr lang="en-US" sz="1400" dirty="0"/>
          </a:p>
        </p:txBody>
      </p:sp>
      <p:sp>
        <p:nvSpPr>
          <p:cNvPr id="5" name="Down Arrow 4"/>
          <p:cNvSpPr/>
          <p:nvPr/>
        </p:nvSpPr>
        <p:spPr>
          <a:xfrm rot="10800000">
            <a:off x="1134005" y="3478181"/>
            <a:ext cx="609600" cy="77780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4248962" y="957164"/>
            <a:ext cx="54589" cy="5748436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362328" y="6159292"/>
            <a:ext cx="477566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smtClean="0">
                <a:solidFill>
                  <a:srgbClr val="FF0000"/>
                </a:solidFill>
              </a:rPr>
              <a:t>5NF decomposition)</a:t>
            </a:r>
            <a:endParaRPr lang="en-US" sz="4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9434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Ternary </a:t>
            </a:r>
            <a:r>
              <a:rPr lang="en-US" altLang="en-US" dirty="0" smtClean="0">
                <a:sym typeface="Wingdings" panose="05000000000000000000" pitchFamily="2" charset="2"/>
              </a:rPr>
              <a:t> Binary : Is it okay?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066800"/>
            <a:ext cx="10972800" cy="4906963"/>
          </a:xfrm>
        </p:spPr>
        <p:txBody>
          <a:bodyPr/>
          <a:lstStyle/>
          <a:p>
            <a:r>
              <a:rPr lang="en-US" dirty="0" smtClean="0"/>
              <a:t>Not every ternary relationship can be converted into binary decompositions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i="1" dirty="0" smtClean="0">
                <a:solidFill>
                  <a:srgbClr val="FF0000"/>
                </a:solidFill>
              </a:rPr>
              <a:t>A ternary relationship can be converted into binary decomposition if and only if there is JOIN dependency</a:t>
            </a:r>
            <a:endParaRPr lang="en-US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0011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Summary (Moral of Story!)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Normalization-oriented database design’s goal is to remove possibilities of anomalies</a:t>
            </a:r>
          </a:p>
          <a:p>
            <a:r>
              <a:rPr lang="en-US" altLang="en-US" smtClean="0"/>
              <a:t>If you want a normal form named after you:</a:t>
            </a:r>
          </a:p>
          <a:p>
            <a:pPr lvl="1"/>
            <a:r>
              <a:rPr lang="en-US" altLang="en-US" smtClean="0"/>
              <a:t>Create a schema that has anomalies</a:t>
            </a:r>
          </a:p>
          <a:p>
            <a:pPr lvl="1"/>
            <a:r>
              <a:rPr lang="en-US" altLang="en-US" smtClean="0"/>
              <a:t>Decompose the tables to remove anomalies</a:t>
            </a:r>
          </a:p>
          <a:p>
            <a:pPr lvl="1"/>
            <a:r>
              <a:rPr lang="en-US" altLang="en-US" smtClean="0"/>
              <a:t>Give the normal form your name!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iiitb_theme</Template>
  <TotalTime>1818</TotalTime>
  <Words>1211</Words>
  <Application>Microsoft Office PowerPoint</Application>
  <PresentationFormat>Widescreen</PresentationFormat>
  <Paragraphs>299</Paragraphs>
  <Slides>32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Calibri</vt:lpstr>
      <vt:lpstr>Verdana</vt:lpstr>
      <vt:lpstr>Wingdings</vt:lpstr>
      <vt:lpstr>blank</vt:lpstr>
      <vt:lpstr>Normalization</vt:lpstr>
      <vt:lpstr>Design through normalization</vt:lpstr>
      <vt:lpstr>Functional Dependency</vt:lpstr>
      <vt:lpstr>Key Motivation for Normalization</vt:lpstr>
      <vt:lpstr>Example of FD</vt:lpstr>
      <vt:lpstr>Example 1: Unnormalized  1NF</vt:lpstr>
      <vt:lpstr>Example 1 (Normalized)</vt:lpstr>
      <vt:lpstr>Second Normal Form</vt:lpstr>
      <vt:lpstr>Example 2: </vt:lpstr>
      <vt:lpstr>Example 2: 1NF  2NF</vt:lpstr>
      <vt:lpstr>Example 3</vt:lpstr>
      <vt:lpstr>Third Normal Form</vt:lpstr>
      <vt:lpstr>Example 3</vt:lpstr>
      <vt:lpstr>Example 3: 2NF  3NF</vt:lpstr>
      <vt:lpstr>Example 4</vt:lpstr>
      <vt:lpstr>Example 4 – BCNF</vt:lpstr>
      <vt:lpstr>Multi-valued Attributes</vt:lpstr>
      <vt:lpstr>Multi-valued Dependency MVD</vt:lpstr>
      <vt:lpstr>Multi-valued Attributes</vt:lpstr>
      <vt:lpstr>More than one MVD</vt:lpstr>
      <vt:lpstr>4th Normal Form</vt:lpstr>
      <vt:lpstr>Example 1: Ternary Relationship</vt:lpstr>
      <vt:lpstr>What is Fifth Normal Form (5NF)</vt:lpstr>
      <vt:lpstr>Example 1: Ternary Relationship</vt:lpstr>
      <vt:lpstr>Binary Decomposition of Ternary</vt:lpstr>
      <vt:lpstr>Example 2: Ternary Relationship</vt:lpstr>
      <vt:lpstr>Ternary  Binary</vt:lpstr>
      <vt:lpstr>Binary Decomposition of Ternary</vt:lpstr>
      <vt:lpstr>Example 1: LOSSY DECOMPOSITION</vt:lpstr>
      <vt:lpstr>Example 2: LOSSLESS DECOMPOSITION</vt:lpstr>
      <vt:lpstr>Ternary  Binary : Is it okay?</vt:lpstr>
      <vt:lpstr>Summary (Moral of Story!)</vt:lpstr>
    </vt:vector>
  </TitlesOfParts>
  <Company>iiitb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Annexure: Normalization</dc:title>
  <dc:creator>iiitb1</dc:creator>
  <cp:lastModifiedBy>PROF-RC-WIN-PC</cp:lastModifiedBy>
  <cp:revision>104</cp:revision>
  <dcterms:created xsi:type="dcterms:W3CDTF">2008-11-11T11:21:12Z</dcterms:created>
  <dcterms:modified xsi:type="dcterms:W3CDTF">2022-01-12T05:33:36Z</dcterms:modified>
</cp:coreProperties>
</file>